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61" r:id="rId7"/>
    <p:sldId id="262" r:id="rId8"/>
    <p:sldId id="263" r:id="rId9"/>
    <p:sldId id="264" r:id="rId10"/>
    <p:sldId id="265" r:id="rId11"/>
    <p:sldId id="266" r:id="rId12"/>
    <p:sldId id="278" r:id="rId13"/>
    <p:sldId id="286" r:id="rId14"/>
    <p:sldId id="267" r:id="rId15"/>
    <p:sldId id="268" r:id="rId16"/>
    <p:sldId id="269" r:id="rId17"/>
    <p:sldId id="288" r:id="rId18"/>
    <p:sldId id="289" r:id="rId19"/>
    <p:sldId id="290" r:id="rId20"/>
    <p:sldId id="291" r:id="rId21"/>
    <p:sldId id="292" r:id="rId22"/>
    <p:sldId id="273" r:id="rId23"/>
    <p:sldId id="284" r:id="rId24"/>
    <p:sldId id="275" r:id="rId25"/>
    <p:sldId id="276" r:id="rId26"/>
    <p:sldId id="277" r:id="rId27"/>
    <p:sldId id="285" r:id="rId28"/>
    <p:sldId id="279" r:id="rId29"/>
    <p:sldId id="280" r:id="rId30"/>
    <p:sldId id="281" r:id="rId31"/>
    <p:sldId id="293" r:id="rId32"/>
    <p:sldId id="294" r:id="rId33"/>
    <p:sldId id="283" r:id="rId34"/>
  </p:sldIdLst>
  <p:sldSz cx="12192000" cy="6858000"/>
  <p:notesSz cx="6858000" cy="12192000"/>
  <p:embeddedFontLst>
    <p:embeddedFont>
      <p:font typeface="MiSans" pitchFamily="34" charset="-122"/>
      <p:regular r:id="rId38"/>
    </p:embeddedFont>
    <p:embeddedFont>
      <p:font typeface="MiSans" pitchFamily="34" charset="-120"/>
      <p:regular r:id="rId39"/>
    </p:embeddedFont>
    <p:embeddedFont>
      <p:font typeface="Calibri" panose="020F0502020204030204" charset="0"/>
      <p:regular r:id="rId40"/>
      <p:bold r:id="rId41"/>
      <p:italic r:id="rId42"/>
      <p:boldItalic r:id="rId43"/>
    </p:embeddedFont>
    <p:embeddedFont>
      <p:font typeface="微软雅黑" panose="020B0503020204020204" charset="-122"/>
      <p:regular r:id="rId44"/>
      <p:bold r:id="rId45"/>
    </p:embeddedFont>
    <p:embeddedFont>
      <p:font typeface="等线" panose="02010600030101010101" charset="-122"/>
      <p:regular r:id="rId46"/>
      <p:bold r:id="rId4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7" Type="http://schemas.openxmlformats.org/officeDocument/2006/relationships/font" Target="fonts/font10.fntdata"/><Relationship Id="rId46" Type="http://schemas.openxmlformats.org/officeDocument/2006/relationships/font" Target="fonts/font9.fntdata"/><Relationship Id="rId45" Type="http://schemas.openxmlformats.org/officeDocument/2006/relationships/font" Target="fonts/font8.fntdata"/><Relationship Id="rId44" Type="http://schemas.openxmlformats.org/officeDocument/2006/relationships/font" Target="fonts/font7.fntdata"/><Relationship Id="rId43" Type="http://schemas.openxmlformats.org/officeDocument/2006/relationships/font" Target="fonts/font6.fntdata"/><Relationship Id="rId42" Type="http://schemas.openxmlformats.org/officeDocument/2006/relationships/font" Target="fonts/font5.fntdata"/><Relationship Id="rId41" Type="http://schemas.openxmlformats.org/officeDocument/2006/relationships/font" Target="fonts/font4.fntdata"/><Relationship Id="rId40" Type="http://schemas.openxmlformats.org/officeDocument/2006/relationships/font" Target="fonts/font3.fntdata"/><Relationship Id="rId4" Type="http://schemas.openxmlformats.org/officeDocument/2006/relationships/slide" Target="slides/slide1.xml"/><Relationship Id="rId39" Type="http://schemas.openxmlformats.org/officeDocument/2006/relationships/font" Target="fonts/font2.fntdata"/><Relationship Id="rId38" Type="http://schemas.openxmlformats.org/officeDocument/2006/relationships/font" Target="fonts/font1.fntdata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5.jpeg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3.jpeg"/><Relationship Id="rId21" Type="http://schemas.openxmlformats.org/officeDocument/2006/relationships/image" Target="../media/image4.png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image" Target="../media/image6.jpe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4.png"/><Relationship Id="rId11" Type="http://schemas.openxmlformats.org/officeDocument/2006/relationships/image" Target="../media/image3.jpeg"/><Relationship Id="rId10" Type="http://schemas.openxmlformats.org/officeDocument/2006/relationships/tags" Target="../tags/tag26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7.png"/><Relationship Id="rId10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image" Target="../media/image4.png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image" Target="../media/image6.jpe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image" Target="../media/image5.jpeg"/><Relationship Id="rId2" Type="http://schemas.openxmlformats.org/officeDocument/2006/relationships/tags" Target="../tags/tag41.xml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image" Target="../media/image4.png"/><Relationship Id="rId5" Type="http://schemas.openxmlformats.org/officeDocument/2006/relationships/tags" Target="../tags/tag51.xml"/><Relationship Id="rId4" Type="http://schemas.openxmlformats.org/officeDocument/2006/relationships/image" Target="../media/image5.jpeg"/><Relationship Id="rId3" Type="http://schemas.openxmlformats.org/officeDocument/2006/relationships/tags" Target="../tags/tag50.xml"/><Relationship Id="rId2" Type="http://schemas.openxmlformats.org/officeDocument/2006/relationships/image" Target="../media/image6.jpeg"/><Relationship Id="rId17" Type="http://schemas.openxmlformats.org/officeDocument/2006/relationships/notesSlide" Target="../notesSlides/notesSlide9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8.png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image" Target="../media/image4.png"/><Relationship Id="rId5" Type="http://schemas.openxmlformats.org/officeDocument/2006/relationships/tags" Target="../tags/tag61.xml"/><Relationship Id="rId4" Type="http://schemas.openxmlformats.org/officeDocument/2006/relationships/image" Target="../media/image5.jpeg"/><Relationship Id="rId3" Type="http://schemas.openxmlformats.org/officeDocument/2006/relationships/tags" Target="../tags/tag60.xml"/><Relationship Id="rId2" Type="http://schemas.openxmlformats.org/officeDocument/2006/relationships/image" Target="../media/image6.jpeg"/><Relationship Id="rId17" Type="http://schemas.openxmlformats.org/officeDocument/2006/relationships/notesSlide" Target="../notesSlides/notesSlide10.xml"/><Relationship Id="rId16" Type="http://schemas.openxmlformats.org/officeDocument/2006/relationships/slideLayout" Target="../slideLayouts/slideLayout3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image" Target="../media/image8.png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image" Target="../media/image9.png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image" Target="../media/image8.png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0" Type="http://schemas.openxmlformats.org/officeDocument/2006/relationships/notesSlide" Target="../notesSlides/notesSlide11.xml"/><Relationship Id="rId2" Type="http://schemas.openxmlformats.org/officeDocument/2006/relationships/tags" Target="../tags/tag70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84.xml"/><Relationship Id="rId17" Type="http://schemas.openxmlformats.org/officeDocument/2006/relationships/tags" Target="../tags/tag83.xml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jpeg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3" Type="http://schemas.openxmlformats.org/officeDocument/2006/relationships/notesSlide" Target="../notesSlides/notesSlide14.xml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7.png"/><Relationship Id="rId10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image" Target="../media/image4.png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image" Target="../media/image6.jpe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image" Target="../media/image5.jpeg"/><Relationship Id="rId2" Type="http://schemas.openxmlformats.org/officeDocument/2006/relationships/tags" Target="../tags/tag98.xml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105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image" Target="../media/image4.png"/><Relationship Id="rId5" Type="http://schemas.openxmlformats.org/officeDocument/2006/relationships/tags" Target="../tags/tag107.xml"/><Relationship Id="rId4" Type="http://schemas.openxmlformats.org/officeDocument/2006/relationships/image" Target="../media/image5.jpeg"/><Relationship Id="rId3" Type="http://schemas.openxmlformats.org/officeDocument/2006/relationships/tags" Target="../tags/tag106.xml"/><Relationship Id="rId2" Type="http://schemas.openxmlformats.org/officeDocument/2006/relationships/image" Target="../media/image6.jpeg"/><Relationship Id="rId17" Type="http://schemas.openxmlformats.org/officeDocument/2006/relationships/notesSlide" Target="../notesSlides/notesSlide17.xml"/><Relationship Id="rId16" Type="http://schemas.openxmlformats.org/officeDocument/2006/relationships/slideLayout" Target="../slideLayouts/slideLayout3.xml"/><Relationship Id="rId15" Type="http://schemas.openxmlformats.org/officeDocument/2006/relationships/tags" Target="../tags/tag115.xml"/><Relationship Id="rId14" Type="http://schemas.openxmlformats.org/officeDocument/2006/relationships/tags" Target="../tags/tag114.xml"/><Relationship Id="rId13" Type="http://schemas.openxmlformats.org/officeDocument/2006/relationships/tags" Target="../tags/tag113.xml"/><Relationship Id="rId12" Type="http://schemas.openxmlformats.org/officeDocument/2006/relationships/image" Target="../media/image8.png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image" Target="../media/image4.png"/><Relationship Id="rId5" Type="http://schemas.openxmlformats.org/officeDocument/2006/relationships/tags" Target="../tags/tag117.xml"/><Relationship Id="rId4" Type="http://schemas.openxmlformats.org/officeDocument/2006/relationships/image" Target="../media/image5.jpeg"/><Relationship Id="rId3" Type="http://schemas.openxmlformats.org/officeDocument/2006/relationships/tags" Target="../tags/tag116.xml"/><Relationship Id="rId2" Type="http://schemas.openxmlformats.org/officeDocument/2006/relationships/image" Target="../media/image6.jpeg"/><Relationship Id="rId17" Type="http://schemas.openxmlformats.org/officeDocument/2006/relationships/notesSlide" Target="../notesSlides/notesSlide18.xml"/><Relationship Id="rId16" Type="http://schemas.openxmlformats.org/officeDocument/2006/relationships/slideLayout" Target="../slideLayouts/slideLayout3.xml"/><Relationship Id="rId15" Type="http://schemas.openxmlformats.org/officeDocument/2006/relationships/tags" Target="../tags/tag125.xml"/><Relationship Id="rId14" Type="http://schemas.openxmlformats.org/officeDocument/2006/relationships/tags" Target="../tags/tag124.xml"/><Relationship Id="rId13" Type="http://schemas.openxmlformats.org/officeDocument/2006/relationships/tags" Target="../tags/tag123.xml"/><Relationship Id="rId12" Type="http://schemas.openxmlformats.org/officeDocument/2006/relationships/image" Target="../media/image8.png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image" Target="../media/image10.pn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image" Target="../media/image8.png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image" Target="../media/image11.png"/><Relationship Id="rId14" Type="http://schemas.openxmlformats.org/officeDocument/2006/relationships/notesSlide" Target="../notesSlides/notesSlide2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38.xml"/><Relationship Id="rId11" Type="http://schemas.openxmlformats.org/officeDocument/2006/relationships/tags" Target="../tags/tag137.xml"/><Relationship Id="rId10" Type="http://schemas.openxmlformats.org/officeDocument/2006/relationships/tags" Target="../tags/tag136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4.png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image" Target="../media/image4.png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image" Target="../media/image5.jpeg"/><Relationship Id="rId3" Type="http://schemas.openxmlformats.org/officeDocument/2006/relationships/tags" Target="../tags/tag142.xml"/><Relationship Id="rId22" Type="http://schemas.openxmlformats.org/officeDocument/2006/relationships/notesSlide" Target="../notesSlides/notesSlide24.xml"/><Relationship Id="rId21" Type="http://schemas.openxmlformats.org/officeDocument/2006/relationships/slideLayout" Target="../slideLayouts/slideLayout3.xml"/><Relationship Id="rId20" Type="http://schemas.openxmlformats.org/officeDocument/2006/relationships/tags" Target="../tags/tag156.xml"/><Relationship Id="rId2" Type="http://schemas.openxmlformats.org/officeDocument/2006/relationships/image" Target="../media/image6.jpeg"/><Relationship Id="rId19" Type="http://schemas.openxmlformats.org/officeDocument/2006/relationships/tags" Target="../tags/tag155.xml"/><Relationship Id="rId18" Type="http://schemas.openxmlformats.org/officeDocument/2006/relationships/tags" Target="../tags/tag154.xml"/><Relationship Id="rId17" Type="http://schemas.openxmlformats.org/officeDocument/2006/relationships/tags" Target="../tags/tag153.xml"/><Relationship Id="rId16" Type="http://schemas.openxmlformats.org/officeDocument/2006/relationships/tags" Target="../tags/tag152.xml"/><Relationship Id="rId15" Type="http://schemas.openxmlformats.org/officeDocument/2006/relationships/image" Target="../media/image8.png"/><Relationship Id="rId14" Type="http://schemas.openxmlformats.org/officeDocument/2006/relationships/tags" Target="../tags/tag151.xml"/><Relationship Id="rId13" Type="http://schemas.openxmlformats.org/officeDocument/2006/relationships/tags" Target="../tags/tag150.xml"/><Relationship Id="rId12" Type="http://schemas.openxmlformats.org/officeDocument/2006/relationships/tags" Target="../tags/tag149.xml"/><Relationship Id="rId11" Type="http://schemas.openxmlformats.org/officeDocument/2006/relationships/tags" Target="../tags/tag148.xml"/><Relationship Id="rId10" Type="http://schemas.openxmlformats.org/officeDocument/2006/relationships/tags" Target="../tags/tag147.xml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jpeg"/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image" Target="../media/image3.jpeg"/><Relationship Id="rId3" Type="http://schemas.openxmlformats.org/officeDocument/2006/relationships/tags" Target="../tags/tag157.xml"/><Relationship Id="rId2" Type="http://schemas.openxmlformats.org/officeDocument/2006/relationships/image" Target="../media/image5.jpeg"/><Relationship Id="rId15" Type="http://schemas.openxmlformats.org/officeDocument/2006/relationships/notesSlide" Target="../notesSlides/notesSlide27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4.png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66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3-d2targtnfo2stf9djjr0.jpg"/>
          <p:cNvPicPr>
            <a:picLocks noChangeAspect="1"/>
          </p:cNvPicPr>
          <p:nvPr/>
        </p:nvPicPr>
        <p:blipFill>
          <a:blip r:embed="rId2"/>
          <a:srcRect t="83" b="8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0:41-d2targdnfo2stf9djjk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" y="1707515"/>
            <a:ext cx="4963160" cy="3327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1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主讲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人：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姚一敏</a:t>
            </a:r>
            <a:endParaRPr lang="zh-CN" altLang="en-US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240270" y="6099810"/>
            <a:ext cx="3091815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日期：2025/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09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 10"/>
          <p:cNvSpPr/>
          <p:nvPr/>
        </p:nvSpPr>
        <p:spPr>
          <a:xfrm>
            <a:off x="617220" y="2134235"/>
            <a:ext cx="7715885" cy="15278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孩子先天特质分类及判断依据</a:t>
            </a:r>
            <a:endParaRPr lang="en-US" sz="1600" dirty="0"/>
          </a:p>
        </p:txBody>
      </p:sp>
      <p:pic>
        <p:nvPicPr>
          <p:cNvPr id="15" name="Image 2" descr="https://kimi-img.moonshot.cn/pub/slides/slides_tmpl/image/25-09-05-17:30:41-d2targdnfo2stf9djjk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16" name="Image 3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17" name="Image 4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36085" y="5199380"/>
            <a:ext cx="7179310" cy="7366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36085" y="4401185"/>
            <a:ext cx="71793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36085" y="3590925"/>
            <a:ext cx="7179310" cy="7366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36085" y="2780665"/>
            <a:ext cx="7179310" cy="7366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36085" y="1970405"/>
            <a:ext cx="7179310" cy="736600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36085" y="1160145"/>
            <a:ext cx="7179310" cy="736600"/>
          </a:xfrm>
          <a:prstGeom prst="rect">
            <a:avLst/>
          </a:prstGeom>
        </p:spPr>
      </p:pic>
      <p:sp>
        <p:nvSpPr>
          <p:cNvPr id="8" name="Text 0"/>
          <p:cNvSpPr/>
          <p:nvPr>
            <p:custDataLst>
              <p:tags r:id="rId9"/>
            </p:custDataLst>
          </p:nvPr>
        </p:nvSpPr>
        <p:spPr>
          <a:xfrm>
            <a:off x="4305935" y="1200785"/>
            <a:ext cx="842010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9" name="Text 1"/>
          <p:cNvSpPr/>
          <p:nvPr>
            <p:custDataLst>
              <p:tags r:id="rId10"/>
            </p:custDataLst>
          </p:nvPr>
        </p:nvSpPr>
        <p:spPr>
          <a:xfrm>
            <a:off x="5147310" y="1323975"/>
            <a:ext cx="6026785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封面与目录</a:t>
            </a:r>
            <a:endParaRPr lang="en-US" sz="1600" dirty="0"/>
          </a:p>
        </p:txBody>
      </p:sp>
      <p:sp>
        <p:nvSpPr>
          <p:cNvPr id="10" name="Text 2"/>
          <p:cNvSpPr/>
          <p:nvPr>
            <p:custDataLst>
              <p:tags r:id="rId11"/>
            </p:custDataLst>
          </p:nvPr>
        </p:nvSpPr>
        <p:spPr>
          <a:xfrm>
            <a:off x="4305935" y="2026285"/>
            <a:ext cx="842010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11" name="Text 3"/>
          <p:cNvSpPr/>
          <p:nvPr>
            <p:custDataLst>
              <p:tags r:id="rId12"/>
            </p:custDataLst>
          </p:nvPr>
        </p:nvSpPr>
        <p:spPr>
          <a:xfrm>
            <a:off x="5147310" y="2159635"/>
            <a:ext cx="6027420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先天特质总述</a:t>
            </a:r>
            <a:endParaRPr lang="en-US" sz="1600" dirty="0"/>
          </a:p>
        </p:txBody>
      </p:sp>
      <p:sp>
        <p:nvSpPr>
          <p:cNvPr id="12" name="Text 4"/>
          <p:cNvSpPr/>
          <p:nvPr>
            <p:custDataLst>
              <p:tags r:id="rId13"/>
            </p:custDataLst>
          </p:nvPr>
        </p:nvSpPr>
        <p:spPr>
          <a:xfrm>
            <a:off x="4305935" y="2828925"/>
            <a:ext cx="842010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13" name="Text 5"/>
          <p:cNvSpPr/>
          <p:nvPr>
            <p:custDataLst>
              <p:tags r:id="rId14"/>
            </p:custDataLst>
          </p:nvPr>
        </p:nvSpPr>
        <p:spPr>
          <a:xfrm>
            <a:off x="5147310" y="2970530"/>
            <a:ext cx="6268085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高敏型孩子特质</a:t>
            </a:r>
            <a:endParaRPr lang="en-US" sz="1600" dirty="0"/>
          </a:p>
        </p:txBody>
      </p:sp>
      <p:sp>
        <p:nvSpPr>
          <p:cNvPr id="14" name="Text 6"/>
          <p:cNvSpPr/>
          <p:nvPr>
            <p:custDataLst>
              <p:tags r:id="rId15"/>
            </p:custDataLst>
          </p:nvPr>
        </p:nvSpPr>
        <p:spPr>
          <a:xfrm>
            <a:off x="4305935" y="3651250"/>
            <a:ext cx="842010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15" name="Text 7"/>
          <p:cNvSpPr/>
          <p:nvPr>
            <p:custDataLst>
              <p:tags r:id="rId16"/>
            </p:custDataLst>
          </p:nvPr>
        </p:nvSpPr>
        <p:spPr>
          <a:xfrm>
            <a:off x="5147310" y="3768090"/>
            <a:ext cx="626808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钝</a:t>
            </a: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感型孩子特质</a:t>
            </a:r>
            <a:endParaRPr lang="en-US" sz="1600" dirty="0"/>
          </a:p>
        </p:txBody>
      </p:sp>
      <p:sp>
        <p:nvSpPr>
          <p:cNvPr id="16" name="Text 8"/>
          <p:cNvSpPr/>
          <p:nvPr>
            <p:custDataLst>
              <p:tags r:id="rId17"/>
            </p:custDataLst>
          </p:nvPr>
        </p:nvSpPr>
        <p:spPr>
          <a:xfrm>
            <a:off x="4305935" y="4465320"/>
            <a:ext cx="868680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17" name="Text 9"/>
          <p:cNvSpPr/>
          <p:nvPr>
            <p:custDataLst>
              <p:tags r:id="rId18"/>
            </p:custDataLst>
          </p:nvPr>
        </p:nvSpPr>
        <p:spPr>
          <a:xfrm>
            <a:off x="5147310" y="4588510"/>
            <a:ext cx="6268085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困难型孩子特质</a:t>
            </a:r>
            <a:endParaRPr lang="en-US" sz="1600" dirty="0"/>
          </a:p>
        </p:txBody>
      </p:sp>
      <p:sp>
        <p:nvSpPr>
          <p:cNvPr id="18" name="Text 10"/>
          <p:cNvSpPr/>
          <p:nvPr>
            <p:custDataLst>
              <p:tags r:id="rId19"/>
            </p:custDataLst>
          </p:nvPr>
        </p:nvSpPr>
        <p:spPr>
          <a:xfrm>
            <a:off x="4305935" y="5243195"/>
            <a:ext cx="842010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06.</a:t>
            </a:r>
            <a:endParaRPr lang="en-US" sz="1600" dirty="0"/>
          </a:p>
        </p:txBody>
      </p:sp>
      <p:sp>
        <p:nvSpPr>
          <p:cNvPr id="19" name="Text 11"/>
          <p:cNvSpPr/>
          <p:nvPr>
            <p:custDataLst>
              <p:tags r:id="rId20"/>
            </p:custDataLst>
          </p:nvPr>
        </p:nvSpPr>
        <p:spPr>
          <a:xfrm>
            <a:off x="5147310" y="5382895"/>
            <a:ext cx="6268085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特质对比与总结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3"/>
          <p:cNvSpPr/>
          <p:nvPr/>
        </p:nvSpPr>
        <p:spPr>
          <a:xfrm>
            <a:off x="1045210" y="1243965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2" name="Text 14"/>
          <p:cNvSpPr/>
          <p:nvPr/>
        </p:nvSpPr>
        <p:spPr>
          <a:xfrm>
            <a:off x="1045210" y="1243965"/>
            <a:ext cx="1408430" cy="8001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1045210" y="2010410"/>
            <a:ext cx="2663190" cy="438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24" name="Shape 16"/>
          <p:cNvSpPr/>
          <p:nvPr/>
        </p:nvSpPr>
        <p:spPr>
          <a:xfrm>
            <a:off x="1125220" y="198882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5" name="Shape 17"/>
          <p:cNvSpPr/>
          <p:nvPr/>
        </p:nvSpPr>
        <p:spPr>
          <a:xfrm>
            <a:off x="11459749" y="61159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11459749" y="61159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11459749" y="62129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11459749" y="62129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11459749" y="63098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11459749" y="63098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1" name="Image 6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21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32" name="Image 7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21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33" name="Image 8" descr="https://kimi-img.moonshot.cn/pub/slides/slides_tmpl/image/25-09-05-17:30:41-d2targdnfo2stf9djjk0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5400000">
            <a:off x="9744710" y="779780"/>
            <a:ext cx="2170430" cy="56896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939954" y="3588703"/>
            <a:ext cx="1618942" cy="13128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3-d2targtnfo2stf9djjrg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0:41-d2targdnfo2stf9djjj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0:41-d2targdnfo2stf9djjk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先天特质总述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3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3-d2targtnfo2stf9djjrg.jpg"/>
          <p:cNvPicPr>
            <a:picLocks noChangeAspect="1"/>
          </p:cNvPicPr>
          <p:nvPr/>
        </p:nvPicPr>
        <p:blipFill>
          <a:blip r:embed="rId2">
            <a:alphaModFix amt="23000"/>
          </a:blip>
          <a:srcRect l="4" t="11111" r="18329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1020" y="532130"/>
            <a:ext cx="10993120" cy="979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孩子先天气质的差异性总览</a:t>
            </a:r>
            <a:endParaRPr lang="en-US" sz="1600" dirty="0"/>
          </a:p>
        </p:txBody>
      </p:sp>
      <p:sp>
        <p:nvSpPr>
          <p:cNvPr id="4" name="Text 1"/>
          <p:cNvSpPr/>
          <p:nvPr>
            <p:custDataLst>
              <p:tags r:id="rId3"/>
            </p:custDataLst>
          </p:nvPr>
        </p:nvSpPr>
        <p:spPr>
          <a:xfrm>
            <a:off x="2268855" y="3138805"/>
            <a:ext cx="2513965" cy="2987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孩子存在不同先天气质，其感知、反应和行为模式具有显著先天差异性，这是理解孩子行为的基础。</a:t>
            </a:r>
            <a:endParaRPr lang="en-US" sz="1600" dirty="0"/>
          </a:p>
        </p:txBody>
      </p:sp>
      <p:sp>
        <p:nvSpPr>
          <p:cNvPr id="5" name="Text 2"/>
          <p:cNvSpPr/>
          <p:nvPr>
            <p:custDataLst>
              <p:tags r:id="rId4"/>
            </p:custDataLst>
          </p:nvPr>
        </p:nvSpPr>
        <p:spPr>
          <a:xfrm>
            <a:off x="2246630" y="2288540"/>
            <a:ext cx="251460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核心观点</a:t>
            </a:r>
            <a:endParaRPr lang="en-US" sz="1600" dirty="0"/>
          </a:p>
        </p:txBody>
      </p:sp>
      <p:sp>
        <p:nvSpPr>
          <p:cNvPr id="6" name="Text 3"/>
          <p:cNvSpPr/>
          <p:nvPr>
            <p:custDataLst>
              <p:tags r:id="rId5"/>
            </p:custDataLst>
          </p:nvPr>
        </p:nvSpPr>
        <p:spPr>
          <a:xfrm>
            <a:off x="5591175" y="3145790"/>
            <a:ext cx="2513965" cy="2980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主要分为高敏型、顿感型、困难型（又称倔强型），</a:t>
            </a: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以及</a:t>
            </a: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混合型</a:t>
            </a:r>
            <a:endParaRPr lang="en-US" sz="1600" dirty="0"/>
          </a:p>
        </p:txBody>
      </p:sp>
      <p:sp>
        <p:nvSpPr>
          <p:cNvPr id="7" name="Text 4"/>
          <p:cNvSpPr/>
          <p:nvPr>
            <p:custDataLst>
              <p:tags r:id="rId6"/>
            </p:custDataLst>
          </p:nvPr>
        </p:nvSpPr>
        <p:spPr>
          <a:xfrm>
            <a:off x="5568950" y="2295525"/>
            <a:ext cx="251460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主要分类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7"/>
            </p:custDataLst>
          </p:nvPr>
        </p:nvSpPr>
        <p:spPr>
          <a:xfrm>
            <a:off x="8874760" y="3166110"/>
            <a:ext cx="2513965" cy="29597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各类特质无绝对优劣之分，需结合具体表现判断</a:t>
            </a: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8"/>
            </p:custDataLst>
          </p:nvPr>
        </p:nvSpPr>
        <p:spPr>
          <a:xfrm>
            <a:off x="8852535" y="2315845"/>
            <a:ext cx="251460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无绝对优劣</a:t>
            </a:r>
            <a:endParaRPr lang="en-US" sz="1600" dirty="0"/>
          </a:p>
        </p:txBody>
      </p:sp>
      <p:sp>
        <p:nvSpPr>
          <p:cNvPr id="10" name="Shape 7"/>
          <p:cNvSpPr/>
          <p:nvPr>
            <p:custDataLst>
              <p:tags r:id="rId9"/>
            </p:custDataLst>
          </p:nvPr>
        </p:nvSpPr>
        <p:spPr>
          <a:xfrm>
            <a:off x="5177791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>
            <p:custDataLst>
              <p:tags r:id="rId10"/>
            </p:custDataLst>
          </p:nvPr>
        </p:nvSpPr>
        <p:spPr>
          <a:xfrm>
            <a:off x="8518526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pic>
        <p:nvPicPr>
          <p:cNvPr id="12" name="Image 1" descr="https://kimi-img.moonshot.cn/pub/slides/slides_tmpl/image/25-09-05-17:30:41-d2targdnfo2stf9djjk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-958850" y="4513580"/>
            <a:ext cx="4178300" cy="5099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0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0" name="Image 2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12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21" name="Image 3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12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3-d2targtnfo2stf9djjrg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0:41-d2targdnfo2stf9djjj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0:41-d2targdnfo2stf9djjk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高敏型孩子特质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3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635" y="4526280"/>
            <a:ext cx="12191365" cy="383540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wrap="square" lIns="0" tIns="0" rIns="0" bIns="0" rtlCol="0" anchor="t"/>
          <a:p>
            <a:pPr indent="0" algn="ctr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                </a:t>
            </a:r>
            <a:r>
              <a:rPr lang="en-US" sz="1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气质特征</a:t>
            </a:r>
            <a:r>
              <a:rPr lang="zh-CN" altLang="en-US" sz="1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：</a:t>
            </a: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先天的气质就比较敏感，他可以迅速的感知到周围环境的变化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2"/>
            </p:custDataLst>
          </p:nvPr>
        </p:nvSpPr>
        <p:spPr>
          <a:xfrm>
            <a:off x="1390015" y="3242310"/>
            <a:ext cx="241617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非常高敏、易激惹</a:t>
            </a:r>
            <a:endParaRPr lang="zh-CN" altLang="en-US" sz="1600" dirty="0"/>
          </a:p>
        </p:txBody>
      </p:sp>
      <p:sp>
        <p:nvSpPr>
          <p:cNvPr id="3" name="Text 1"/>
          <p:cNvSpPr/>
          <p:nvPr>
            <p:custDataLst>
              <p:tags r:id="rId3"/>
            </p:custDataLst>
          </p:nvPr>
        </p:nvSpPr>
        <p:spPr>
          <a:xfrm>
            <a:off x="856615" y="2644775"/>
            <a:ext cx="2853690" cy="714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敏感程度</a:t>
            </a:r>
            <a:endParaRPr lang="en-US" sz="1600" dirty="0"/>
          </a:p>
        </p:txBody>
      </p:sp>
      <p:sp>
        <p:nvSpPr>
          <p:cNvPr id="4" name="Text 2"/>
          <p:cNvSpPr/>
          <p:nvPr>
            <p:custDataLst>
              <p:tags r:id="rId4"/>
            </p:custDataLst>
          </p:nvPr>
        </p:nvSpPr>
        <p:spPr>
          <a:xfrm>
            <a:off x="4728210" y="2799715"/>
            <a:ext cx="298005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对父母的互动很早就有回应</a:t>
            </a: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能较快的跟着父母的指令反应</a:t>
            </a:r>
            <a:endParaRPr lang="zh-CN" altLang="en-US" sz="1600" dirty="0"/>
          </a:p>
        </p:txBody>
      </p:sp>
      <p:sp>
        <p:nvSpPr>
          <p:cNvPr id="5" name="Text 3"/>
          <p:cNvSpPr/>
          <p:nvPr>
            <p:custDataLst>
              <p:tags r:id="rId5"/>
            </p:custDataLst>
          </p:nvPr>
        </p:nvSpPr>
        <p:spPr>
          <a:xfrm>
            <a:off x="4728210" y="2085975"/>
            <a:ext cx="2853690" cy="714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互动</a:t>
            </a: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反应</a:t>
            </a:r>
            <a:endParaRPr lang="en-US" sz="1600" dirty="0"/>
          </a:p>
        </p:txBody>
      </p:sp>
      <p:sp>
        <p:nvSpPr>
          <p:cNvPr id="6" name="Text 4"/>
          <p:cNvSpPr/>
          <p:nvPr>
            <p:custDataLst>
              <p:tags r:id="rId6"/>
            </p:custDataLst>
          </p:nvPr>
        </p:nvSpPr>
        <p:spPr>
          <a:xfrm>
            <a:off x="8169910" y="3491230"/>
            <a:ext cx="3011170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只有抱着才能睡，一放下就哭</a:t>
            </a: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睡够了很安静、可爱</a:t>
            </a:r>
            <a:endParaRPr lang="zh-CN" altLang="en-US" sz="1600" dirty="0"/>
          </a:p>
        </p:txBody>
      </p:sp>
      <p:sp>
        <p:nvSpPr>
          <p:cNvPr id="7" name="Text 5"/>
          <p:cNvSpPr/>
          <p:nvPr>
            <p:custDataLst>
              <p:tags r:id="rId7"/>
            </p:custDataLst>
          </p:nvPr>
        </p:nvSpPr>
        <p:spPr>
          <a:xfrm>
            <a:off x="8328025" y="2777490"/>
            <a:ext cx="2853690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睡眠特征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6298" y="657860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高敏型孩子特质及判断</a:t>
            </a:r>
            <a:r>
              <a:rPr lang="en-US" altLang="zh-CN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——</a:t>
            </a: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刚出生时的指标</a:t>
            </a: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征</a:t>
            </a:r>
            <a:endParaRPr lang="en-US" sz="1600" dirty="0"/>
          </a:p>
        </p:txBody>
      </p:sp>
      <p:sp>
        <p:nvSpPr>
          <p:cNvPr id="9" name="Shape 7"/>
          <p:cNvSpPr/>
          <p:nvPr>
            <p:custDataLst>
              <p:tags r:id="rId8"/>
            </p:custDataLst>
          </p:nvPr>
        </p:nvSpPr>
        <p:spPr>
          <a:xfrm>
            <a:off x="42672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>
            <p:custDataLst>
              <p:tags r:id="rId9"/>
            </p:custDataLst>
          </p:nvPr>
        </p:nvSpPr>
        <p:spPr>
          <a:xfrm>
            <a:off x="79248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pic>
        <p:nvPicPr>
          <p:cNvPr id="11" name="Image 0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10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2" name="Image 1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10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13" name="Image 2" descr="https://kimi-img.moonshot.cn/pub/slides/slides_tmpl/image/25-09-05-17:30:42-d2targlnfo2stf9djjl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8210" y="5626735"/>
            <a:ext cx="2939415" cy="1314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3-d2targtnfo2stf9djjrg.jpg"/>
          <p:cNvPicPr>
            <a:picLocks noChangeAspect="1"/>
          </p:cNvPicPr>
          <p:nvPr/>
        </p:nvPicPr>
        <p:blipFill>
          <a:blip r:embed="rId2">
            <a:alphaModFix amt="56000"/>
          </a:blip>
          <a:srcRect l="4" t="11111" r="18329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812800"/>
            <a:ext cx="1064958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高敏型孩子特质及判断</a:t>
            </a:r>
            <a:r>
              <a:rPr lang="en-US" altLang="zh-CN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——</a:t>
            </a: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观察</a:t>
            </a:r>
            <a:endParaRPr lang="zh-CN" altLang="en-US" sz="36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4" name="Text 1"/>
          <p:cNvSpPr/>
          <p:nvPr>
            <p:custDataLst>
              <p:tags r:id="rId3"/>
            </p:custDataLst>
          </p:nvPr>
        </p:nvSpPr>
        <p:spPr>
          <a:xfrm>
            <a:off x="2770505" y="2576195"/>
            <a:ext cx="7731760" cy="1384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能随时捕捉父母的心思、知道父母的喜好</a:t>
            </a:r>
            <a:endParaRPr lang="zh-CN" altLang="en-US" sz="1600" dirty="0"/>
          </a:p>
        </p:txBody>
      </p:sp>
      <p:sp>
        <p:nvSpPr>
          <p:cNvPr id="5" name="Text 2"/>
          <p:cNvSpPr/>
          <p:nvPr>
            <p:custDataLst>
              <p:tags r:id="rId4"/>
            </p:custDataLst>
          </p:nvPr>
        </p:nvSpPr>
        <p:spPr>
          <a:xfrm>
            <a:off x="2770505" y="1993265"/>
            <a:ext cx="7732395" cy="5880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会主动观察父母</a:t>
            </a:r>
            <a:endParaRPr lang="zh-CN" altLang="en-US" sz="2000" dirty="0">
              <a:solidFill>
                <a:srgbClr val="0439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5"/>
            </p:custDataLst>
          </p:nvPr>
        </p:nvSpPr>
        <p:spPr>
          <a:xfrm>
            <a:off x="2770505" y="4587875"/>
            <a:ext cx="7731760" cy="1470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能很早分清楚什么是父母要的，较晚意识到什么是自己要的</a:t>
            </a:r>
            <a:r>
              <a:rPr lang="en-US" altLang="zh-CN" sz="1600" dirty="0"/>
              <a:t>(</a:t>
            </a:r>
            <a:r>
              <a:rPr lang="zh-CN" altLang="en-US" sz="1600" dirty="0"/>
              <a:t>往往要青春期开始萌芽</a:t>
            </a:r>
            <a:r>
              <a:rPr lang="en-US" altLang="zh-CN" sz="1600" dirty="0"/>
              <a:t>)</a:t>
            </a:r>
            <a:r>
              <a:rPr lang="zh-CN" altLang="en-US" sz="1600" dirty="0"/>
              <a:t>。</a:t>
            </a: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容易他人导向，不知道自己要什么。</a:t>
            </a:r>
            <a:endParaRPr lang="zh-CN" altLang="en-US" sz="1600" dirty="0"/>
          </a:p>
        </p:txBody>
      </p:sp>
      <p:sp>
        <p:nvSpPr>
          <p:cNvPr id="7" name="Text 4"/>
          <p:cNvSpPr/>
          <p:nvPr>
            <p:custDataLst>
              <p:tags r:id="rId6"/>
            </p:custDataLst>
          </p:nvPr>
        </p:nvSpPr>
        <p:spPr>
          <a:xfrm>
            <a:off x="2770505" y="4004945"/>
            <a:ext cx="7732395" cy="582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会主动满足父母</a:t>
            </a:r>
            <a:endParaRPr lang="zh-CN" altLang="en-US" sz="2000" dirty="0">
              <a:solidFill>
                <a:srgbClr val="0439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5" name="Image 1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6" name="Image 2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sp>
        <p:nvSpPr>
          <p:cNvPr id="17" name="Text 12"/>
          <p:cNvSpPr/>
          <p:nvPr>
            <p:custDataLst>
              <p:tags r:id="rId8"/>
            </p:custDataLst>
          </p:nvPr>
        </p:nvSpPr>
        <p:spPr>
          <a:xfrm>
            <a:off x="1722755" y="1976755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3"/>
          <p:cNvSpPr/>
          <p:nvPr>
            <p:custDataLst>
              <p:tags r:id="rId9"/>
            </p:custDataLst>
          </p:nvPr>
        </p:nvSpPr>
        <p:spPr>
          <a:xfrm>
            <a:off x="1722755" y="4004945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19" name="Image 3" descr="https://kimi-img.moonshot.cn/pub/slides/slides_tmpl/image/25-09-05-17:30:42-d2targlnfo2stf9djjl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9980" y="1235075"/>
            <a:ext cx="2939415" cy="1314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0560" y="4028440"/>
            <a:ext cx="10930890" cy="242824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0560" y="1475105"/>
            <a:ext cx="10930890" cy="2428240"/>
          </a:xfrm>
          <a:prstGeom prst="rect">
            <a:avLst/>
          </a:prstGeom>
        </p:spPr>
      </p:pic>
      <p:sp>
        <p:nvSpPr>
          <p:cNvPr id="4" name="Text 0"/>
          <p:cNvSpPr/>
          <p:nvPr>
            <p:custDataLst>
              <p:tags r:id="rId5"/>
            </p:custDataLst>
          </p:nvPr>
        </p:nvSpPr>
        <p:spPr>
          <a:xfrm>
            <a:off x="1303655" y="1740535"/>
            <a:ext cx="3771900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适应快</a:t>
            </a:r>
            <a:endParaRPr lang="en-US" sz="1600" dirty="0"/>
          </a:p>
        </p:txBody>
      </p:sp>
      <p:sp>
        <p:nvSpPr>
          <p:cNvPr id="5" name="Text 1"/>
          <p:cNvSpPr/>
          <p:nvPr>
            <p:custDataLst>
              <p:tags r:id="rId6"/>
            </p:custDataLst>
          </p:nvPr>
        </p:nvSpPr>
        <p:spPr>
          <a:xfrm>
            <a:off x="1125220" y="2155825"/>
            <a:ext cx="4496435" cy="1709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天生的</a:t>
            </a:r>
            <a:r>
              <a:rPr lang="en-US" altLang="zh-CN" sz="1600" dirty="0"/>
              <a:t>“</a:t>
            </a:r>
            <a:r>
              <a:rPr lang="zh-CN" altLang="en-US" sz="1600" dirty="0"/>
              <a:t>演员</a:t>
            </a:r>
            <a:r>
              <a:rPr lang="en-US" altLang="zh-CN" sz="1600" dirty="0"/>
              <a:t>”</a:t>
            </a:r>
            <a:r>
              <a:rPr lang="zh-CN" altLang="en-US" sz="1600" dirty="0"/>
              <a:t>体质，可以迅速进入各种</a:t>
            </a:r>
            <a:r>
              <a:rPr lang="en-US" altLang="zh-CN" sz="1600" dirty="0"/>
              <a:t>“</a:t>
            </a:r>
            <a:r>
              <a:rPr lang="zh-CN" altLang="en-US" sz="1600" dirty="0"/>
              <a:t>状态</a:t>
            </a:r>
            <a:r>
              <a:rPr lang="en-US" altLang="zh-CN" sz="1600" dirty="0"/>
              <a:t>”</a:t>
            </a:r>
            <a:endParaRPr lang="en-US" altLang="zh-CN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dirty="0"/>
              <a:t>常见的负面影响：心理疾病种类会特别多</a:t>
            </a:r>
            <a:endParaRPr lang="zh-CN" altLang="en-US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1600" dirty="0"/>
              <a:t>                                          </a:t>
            </a:r>
            <a:r>
              <a:rPr lang="zh-CN" altLang="en-US" sz="1600" dirty="0"/>
              <a:t>他们自己也以为自己病了</a:t>
            </a:r>
            <a:endParaRPr lang="zh-CN" altLang="en-US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1600" dirty="0"/>
              <a:t>                                          </a:t>
            </a:r>
            <a:r>
              <a:rPr lang="zh-CN" altLang="en-US" sz="1600" dirty="0"/>
              <a:t>容易让医生信以为真</a:t>
            </a:r>
            <a:endParaRPr lang="zh-CN" altLang="en-US" sz="1600" dirty="0"/>
          </a:p>
        </p:txBody>
      </p:sp>
      <p:sp>
        <p:nvSpPr>
          <p:cNvPr id="6" name="Text 2"/>
          <p:cNvSpPr/>
          <p:nvPr>
            <p:custDataLst>
              <p:tags r:id="rId7"/>
            </p:custDataLst>
          </p:nvPr>
        </p:nvSpPr>
        <p:spPr>
          <a:xfrm>
            <a:off x="1303655" y="4274820"/>
            <a:ext cx="3771900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适应好</a:t>
            </a:r>
            <a:endParaRPr lang="zh-CN" altLang="en-US" sz="2000" dirty="0">
              <a:solidFill>
                <a:srgbClr val="0439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7" name="Text 3"/>
          <p:cNvSpPr/>
          <p:nvPr>
            <p:custDataLst>
              <p:tags r:id="rId8"/>
            </p:custDataLst>
          </p:nvPr>
        </p:nvSpPr>
        <p:spPr>
          <a:xfrm>
            <a:off x="1125220" y="4779010"/>
            <a:ext cx="4496435" cy="1805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社会适应能力很好</a:t>
            </a: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适应的太好</a:t>
            </a:r>
            <a:endParaRPr lang="zh-CN" altLang="en-US" sz="1600" dirty="0"/>
          </a:p>
        </p:txBody>
      </p:sp>
      <p:sp>
        <p:nvSpPr>
          <p:cNvPr id="9" name="Text 5"/>
          <p:cNvSpPr/>
          <p:nvPr>
            <p:custDataLst>
              <p:tags r:id="rId9"/>
            </p:custDataLst>
          </p:nvPr>
        </p:nvSpPr>
        <p:spPr>
          <a:xfrm>
            <a:off x="5812155" y="1362075"/>
            <a:ext cx="5788660" cy="27584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高敏的孩子疾病化后，会比较难以摆脱疾病化的陷阱，因为其会把大量的精力用在试图摆脱自己</a:t>
            </a:r>
            <a:r>
              <a:rPr lang="en-US" altLang="zh-CN" sz="1400" dirty="0"/>
              <a:t>“</a:t>
            </a:r>
            <a:r>
              <a:rPr lang="zh-CN" altLang="en-US" sz="1400" dirty="0"/>
              <a:t>疾病</a:t>
            </a:r>
            <a:r>
              <a:rPr lang="en-US" altLang="zh-CN" sz="1400" dirty="0"/>
              <a:t>”</a:t>
            </a:r>
            <a:r>
              <a:rPr lang="zh-CN" altLang="en-US" sz="1400" dirty="0"/>
              <a:t>的这个困境当中，反而容易形成恶性循环。</a:t>
            </a:r>
            <a:endParaRPr lang="zh-CN" altLang="en-US" sz="1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也既是越想摆脱，越是把注意力放在</a:t>
            </a:r>
            <a:r>
              <a:rPr lang="en-US" altLang="zh-CN" sz="1400" dirty="0"/>
              <a:t>“</a:t>
            </a:r>
            <a:r>
              <a:rPr lang="zh-CN" altLang="en-US" sz="1400" dirty="0"/>
              <a:t>症状</a:t>
            </a:r>
            <a:r>
              <a:rPr lang="en-US" altLang="zh-CN" sz="1400" dirty="0"/>
              <a:t>”“</a:t>
            </a:r>
            <a:r>
              <a:rPr lang="zh-CN" altLang="en-US" sz="1400" dirty="0"/>
              <a:t>感受</a:t>
            </a:r>
            <a:r>
              <a:rPr lang="en-US" altLang="zh-CN" sz="1400" dirty="0"/>
              <a:t>”</a:t>
            </a:r>
            <a:r>
              <a:rPr lang="zh-CN" altLang="en-US" sz="1400" dirty="0"/>
              <a:t>上，所以，越是暗示自己有问题，结果就在概念里打转，以至于很难出来。</a:t>
            </a:r>
            <a:endParaRPr lang="zh-CN" altLang="en-US" sz="1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直到有一天，自己筋疲力尽后，发现，那是自己的</a:t>
            </a:r>
            <a:r>
              <a:rPr lang="en-US" altLang="zh-CN" sz="1400" dirty="0"/>
              <a:t>“</a:t>
            </a:r>
            <a:r>
              <a:rPr lang="zh-CN" altLang="en-US" sz="1400" dirty="0"/>
              <a:t>影子</a:t>
            </a:r>
            <a:r>
              <a:rPr lang="en-US" altLang="zh-CN" sz="1400" dirty="0"/>
              <a:t>”</a:t>
            </a:r>
            <a:r>
              <a:rPr lang="zh-CN" altLang="en-US" sz="1400" dirty="0"/>
              <a:t>根本无法摆脱后，才会慢慢的接受自己就是这样的特质，就是会这样高敏，也就是会这样陷入到各种负面感受里面无法自拔。</a:t>
            </a:r>
            <a:endParaRPr lang="zh-CN" altLang="en-US" sz="1400" dirty="0"/>
          </a:p>
        </p:txBody>
      </p:sp>
      <p:sp>
        <p:nvSpPr>
          <p:cNvPr id="10" name="Text 6"/>
          <p:cNvSpPr/>
          <p:nvPr>
            <p:custDataLst>
              <p:tags r:id="rId10"/>
            </p:custDataLst>
          </p:nvPr>
        </p:nvSpPr>
        <p:spPr>
          <a:xfrm>
            <a:off x="7157720" y="4274820"/>
            <a:ext cx="3771900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养育者的体验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11"/>
            </p:custDataLst>
          </p:nvPr>
        </p:nvSpPr>
        <p:spPr>
          <a:xfrm>
            <a:off x="7000875" y="4779010"/>
            <a:ext cx="4496435" cy="1805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小时候被认为</a:t>
            </a:r>
            <a:r>
              <a:rPr lang="en-US" altLang="zh-CN" sz="1600" dirty="0"/>
              <a:t> “</a:t>
            </a:r>
            <a:r>
              <a:rPr lang="zh-CN" altLang="en-US" sz="1600" dirty="0"/>
              <a:t>好带</a:t>
            </a:r>
            <a:r>
              <a:rPr lang="en-US" altLang="zh-CN" sz="1600" dirty="0"/>
              <a:t>”“</a:t>
            </a:r>
            <a:r>
              <a:rPr lang="zh-CN" altLang="en-US" sz="1600" dirty="0"/>
              <a:t>不费心</a:t>
            </a:r>
            <a:r>
              <a:rPr lang="en-US" altLang="zh-CN" sz="1600" dirty="0"/>
              <a:t>”“</a:t>
            </a:r>
            <a:r>
              <a:rPr lang="zh-CN" altLang="en-US" sz="1600" dirty="0"/>
              <a:t>省心</a:t>
            </a:r>
            <a:r>
              <a:rPr lang="en-US" altLang="zh-CN" sz="1600" dirty="0"/>
              <a:t>”“</a:t>
            </a:r>
            <a:r>
              <a:rPr lang="zh-CN" altLang="en-US" sz="1600" dirty="0"/>
              <a:t>不用教</a:t>
            </a:r>
            <a:r>
              <a:rPr lang="en-US" altLang="zh-CN" sz="1600" dirty="0"/>
              <a:t>”“</a:t>
            </a:r>
            <a:r>
              <a:rPr lang="zh-CN" altLang="en-US" sz="1600" dirty="0"/>
              <a:t>他什么都会</a:t>
            </a:r>
            <a:r>
              <a:rPr lang="en-US" altLang="zh-CN" sz="1600" dirty="0"/>
              <a:t>”</a:t>
            </a:r>
            <a:endParaRPr lang="en-US" alt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581660" y="532130"/>
            <a:ext cx="10966450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高敏型孩子特质及判断</a:t>
            </a:r>
            <a:r>
              <a:rPr lang="en-US" altLang="zh-CN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——</a:t>
            </a: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应变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3-d2targtnfo2stf9djjrg.jpg"/>
          <p:cNvPicPr>
            <a:picLocks noChangeAspect="1"/>
          </p:cNvPicPr>
          <p:nvPr/>
        </p:nvPicPr>
        <p:blipFill>
          <a:blip r:embed="rId2">
            <a:alphaModFix amt="17000"/>
          </a:blip>
          <a:srcRect l="4" t="11111" r="18329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flipH="1">
            <a:off x="1062990" y="4972050"/>
            <a:ext cx="8926830" cy="16637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60955" y="1395095"/>
            <a:ext cx="8691880" cy="363474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41020" y="440055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高敏型孩子特质及判断</a:t>
            </a:r>
            <a:r>
              <a:rPr lang="en-US" altLang="zh-CN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——</a:t>
            </a: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其他典型表现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612140"/>
            <a:ext cx="762000" cy="7620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742950"/>
            <a:ext cx="762000" cy="76200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7"/>
            </p:custDataLst>
          </p:nvPr>
        </p:nvSpPr>
        <p:spPr>
          <a:xfrm>
            <a:off x="3457575" y="1903095"/>
            <a:ext cx="7795260" cy="2560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有心思不会直接说，表达弯弯绕绕；</a:t>
            </a:r>
            <a:endParaRPr lang="zh-CN" altLang="en-US" sz="1600" dirty="0"/>
          </a:p>
          <a:p>
            <a:pPr marL="285750" indent="-285750" algn="just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能通过各种方式说服父母；</a:t>
            </a:r>
            <a:endParaRPr lang="zh-CN" altLang="en-US" sz="1600" dirty="0"/>
          </a:p>
          <a:p>
            <a:pPr marL="285750" indent="-285750" algn="just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想主导父母且能成功主导；</a:t>
            </a:r>
            <a:endParaRPr lang="zh-CN" altLang="en-US" sz="1600" dirty="0"/>
          </a:p>
          <a:p>
            <a:pPr marL="285750" indent="-285750" algn="just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父母常不自觉认同孩子；</a:t>
            </a:r>
            <a:endParaRPr lang="zh-CN" altLang="en-US" sz="1600" dirty="0"/>
          </a:p>
          <a:p>
            <a:pPr marL="285750" indent="-285750" algn="just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若父母突然改变教养方式、这类孩子会试图把父母重新带回原先的教养模式中来</a:t>
            </a:r>
            <a:endParaRPr lang="zh-CN" altLang="en-US" sz="1600" dirty="0"/>
          </a:p>
        </p:txBody>
      </p:sp>
      <p:sp>
        <p:nvSpPr>
          <p:cNvPr id="10" name="Text 2"/>
          <p:cNvSpPr/>
          <p:nvPr>
            <p:custDataLst>
              <p:tags r:id="rId8"/>
            </p:custDataLst>
          </p:nvPr>
        </p:nvSpPr>
        <p:spPr>
          <a:xfrm>
            <a:off x="3457575" y="1551305"/>
            <a:ext cx="7733665" cy="440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沟通与主导</a:t>
            </a:r>
            <a:endParaRPr lang="en-US" sz="1600" dirty="0"/>
          </a:p>
        </p:txBody>
      </p:sp>
      <p:sp>
        <p:nvSpPr>
          <p:cNvPr id="11" name="Text 3"/>
          <p:cNvSpPr/>
          <p:nvPr>
            <p:custDataLst>
              <p:tags r:id="rId9"/>
            </p:custDataLst>
          </p:nvPr>
        </p:nvSpPr>
        <p:spPr>
          <a:xfrm>
            <a:off x="5029200" y="5539740"/>
            <a:ext cx="4161155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r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经常捕捉他人对他的看法，在意别人的眼光</a:t>
            </a:r>
            <a:endParaRPr lang="zh-CN" altLang="en-US" sz="1600" dirty="0"/>
          </a:p>
          <a:p>
            <a:pPr marL="285750" indent="-285750" algn="r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不喜欢独处，总是得有人陪着</a:t>
            </a:r>
            <a:endParaRPr lang="zh-CN" altLang="en-US" sz="1600" dirty="0"/>
          </a:p>
        </p:txBody>
      </p:sp>
      <p:sp>
        <p:nvSpPr>
          <p:cNvPr id="12" name="Text 4"/>
          <p:cNvSpPr/>
          <p:nvPr>
            <p:custDataLst>
              <p:tags r:id="rId10"/>
            </p:custDataLst>
          </p:nvPr>
        </p:nvSpPr>
        <p:spPr>
          <a:xfrm>
            <a:off x="1395095" y="5187950"/>
            <a:ext cx="7795260" cy="363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在意他人</a:t>
            </a:r>
            <a:endParaRPr lang="en-US" sz="1600" dirty="0"/>
          </a:p>
        </p:txBody>
      </p:sp>
      <p:pic>
        <p:nvPicPr>
          <p:cNvPr id="15" name="Image 6" descr="https://kimi-img.moonshot.cn/pub/slides/slides_tmpl/image/25-09-05-17:30:42-d2targlnfo2stf9djjmg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275" r="275"/>
          <a:stretch>
            <a:fillRect/>
          </a:stretch>
        </p:blipFill>
        <p:spPr>
          <a:xfrm>
            <a:off x="2296795" y="1903095"/>
            <a:ext cx="688340" cy="691515"/>
          </a:xfrm>
          <a:prstGeom prst="rect">
            <a:avLst/>
          </a:prstGeom>
        </p:spPr>
      </p:pic>
      <p:sp>
        <p:nvSpPr>
          <p:cNvPr id="16" name="Text 7"/>
          <p:cNvSpPr/>
          <p:nvPr>
            <p:custDataLst>
              <p:tags r:id="rId13"/>
            </p:custDataLst>
          </p:nvPr>
        </p:nvSpPr>
        <p:spPr>
          <a:xfrm>
            <a:off x="2301240" y="199326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17" name="Image 7" descr="https://kimi-img.moonshot.cn/pub/slides/slides_tmpl/image/25-09-05-17:30:42-d2targlnfo2stf9djjmg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2"/>
          <a:srcRect l="275" r="275"/>
          <a:stretch>
            <a:fillRect/>
          </a:stretch>
        </p:blipFill>
        <p:spPr>
          <a:xfrm>
            <a:off x="9625330" y="5356860"/>
            <a:ext cx="688340" cy="691515"/>
          </a:xfrm>
          <a:prstGeom prst="rect">
            <a:avLst/>
          </a:prstGeom>
        </p:spPr>
      </p:pic>
      <p:sp>
        <p:nvSpPr>
          <p:cNvPr id="18" name="Text 8"/>
          <p:cNvSpPr/>
          <p:nvPr>
            <p:custDataLst>
              <p:tags r:id="rId15"/>
            </p:custDataLst>
          </p:nvPr>
        </p:nvSpPr>
        <p:spPr>
          <a:xfrm>
            <a:off x="9629775" y="544703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3-d2targtnfo2stf9djjrg.jpg"/>
          <p:cNvPicPr>
            <a:picLocks noChangeAspect="1"/>
          </p:cNvPicPr>
          <p:nvPr/>
        </p:nvPicPr>
        <p:blipFill>
          <a:blip r:embed="rId2">
            <a:alphaModFix amt="17000"/>
          </a:blip>
          <a:srcRect l="4" t="11111" r="18329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flipH="1">
            <a:off x="1062990" y="3084195"/>
            <a:ext cx="8926830" cy="354203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60955" y="1395095"/>
            <a:ext cx="8691880" cy="158813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41020" y="440055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高敏型孩子特质及判断</a:t>
            </a:r>
            <a:r>
              <a:rPr lang="en-US" altLang="zh-CN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——</a:t>
            </a: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其他典型表现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612140"/>
            <a:ext cx="762000" cy="7620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742950"/>
            <a:ext cx="762000" cy="76200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7"/>
            </p:custDataLst>
          </p:nvPr>
        </p:nvSpPr>
        <p:spPr>
          <a:xfrm>
            <a:off x="3457575" y="1903095"/>
            <a:ext cx="7795260" cy="11201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>
                <a:sym typeface="+mn-ea"/>
              </a:rPr>
              <a:t>学习不是难事，能较快适应各科学习情况</a:t>
            </a:r>
            <a:endParaRPr lang="zh-CN" altLang="en-US" sz="1600" dirty="0"/>
          </a:p>
        </p:txBody>
      </p:sp>
      <p:sp>
        <p:nvSpPr>
          <p:cNvPr id="10" name="Text 2"/>
          <p:cNvSpPr/>
          <p:nvPr>
            <p:custDataLst>
              <p:tags r:id="rId8"/>
            </p:custDataLst>
          </p:nvPr>
        </p:nvSpPr>
        <p:spPr>
          <a:xfrm>
            <a:off x="3457575" y="1551305"/>
            <a:ext cx="7733665" cy="440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学习能力</a:t>
            </a:r>
            <a:endParaRPr lang="en-US" sz="1600" dirty="0"/>
          </a:p>
        </p:txBody>
      </p:sp>
      <p:sp>
        <p:nvSpPr>
          <p:cNvPr id="11" name="Text 3"/>
          <p:cNvSpPr/>
          <p:nvPr>
            <p:custDataLst>
              <p:tags r:id="rId9"/>
            </p:custDataLst>
          </p:nvPr>
        </p:nvSpPr>
        <p:spPr>
          <a:xfrm>
            <a:off x="3458210" y="3651885"/>
            <a:ext cx="5732145" cy="18205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r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较早的体验到自己的意志与环境之间的关系。</a:t>
            </a:r>
            <a:endParaRPr lang="zh-CN" altLang="en-US" sz="1600" dirty="0"/>
          </a:p>
          <a:p>
            <a:pPr indent="0" algn="r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600" dirty="0"/>
          </a:p>
          <a:p>
            <a:pPr marL="285750" indent="-285750" algn="r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如果父母小时候太宠，太顺着，过度欣赏高敏型的孩子，会导致高敏型孩子，主导性过强，甚至形成，</a:t>
            </a:r>
            <a:r>
              <a:rPr lang="en-US" altLang="zh-CN" sz="1600" dirty="0"/>
              <a:t>“</a:t>
            </a:r>
            <a:r>
              <a:rPr lang="zh-CN" altLang="en-US" sz="1600" dirty="0"/>
              <a:t>他人就应全然的爱我</a:t>
            </a:r>
            <a:r>
              <a:rPr lang="en-US" altLang="zh-CN" sz="1600" dirty="0"/>
              <a:t>”</a:t>
            </a:r>
            <a:r>
              <a:rPr lang="zh-CN" altLang="en-US" sz="1600" dirty="0"/>
              <a:t>这样的虚假感受。以至于始终想回到这样的环境中来。</a:t>
            </a:r>
            <a:endParaRPr lang="zh-CN" altLang="en-US" sz="1600" dirty="0"/>
          </a:p>
        </p:txBody>
      </p:sp>
      <p:sp>
        <p:nvSpPr>
          <p:cNvPr id="12" name="Text 4"/>
          <p:cNvSpPr/>
          <p:nvPr>
            <p:custDataLst>
              <p:tags r:id="rId10"/>
            </p:custDataLst>
          </p:nvPr>
        </p:nvSpPr>
        <p:spPr>
          <a:xfrm>
            <a:off x="1395095" y="3300095"/>
            <a:ext cx="7795260" cy="363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意志与环境的关系</a:t>
            </a:r>
            <a:endParaRPr lang="zh-CN" altLang="en-US" sz="2000" dirty="0">
              <a:solidFill>
                <a:srgbClr val="0439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5" name="Image 6" descr="https://kimi-img.moonshot.cn/pub/slides/slides_tmpl/image/25-09-05-17:30:42-d2targlnfo2stf9djjmg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275" r="275"/>
          <a:stretch>
            <a:fillRect/>
          </a:stretch>
        </p:blipFill>
        <p:spPr>
          <a:xfrm>
            <a:off x="2296795" y="1903095"/>
            <a:ext cx="688340" cy="691515"/>
          </a:xfrm>
          <a:prstGeom prst="rect">
            <a:avLst/>
          </a:prstGeom>
        </p:spPr>
      </p:pic>
      <p:sp>
        <p:nvSpPr>
          <p:cNvPr id="16" name="Text 7"/>
          <p:cNvSpPr/>
          <p:nvPr>
            <p:custDataLst>
              <p:tags r:id="rId13"/>
            </p:custDataLst>
          </p:nvPr>
        </p:nvSpPr>
        <p:spPr>
          <a:xfrm>
            <a:off x="2301240" y="199326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pic>
        <p:nvPicPr>
          <p:cNvPr id="17" name="Image 7" descr="https://kimi-img.moonshot.cn/pub/slides/slides_tmpl/image/25-09-05-17:30:42-d2targlnfo2stf9djjmg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2"/>
          <a:srcRect l="275" r="275"/>
          <a:stretch>
            <a:fillRect/>
          </a:stretch>
        </p:blipFill>
        <p:spPr>
          <a:xfrm>
            <a:off x="9625330" y="3469005"/>
            <a:ext cx="688340" cy="691515"/>
          </a:xfrm>
          <a:prstGeom prst="rect">
            <a:avLst/>
          </a:prstGeom>
        </p:spPr>
      </p:pic>
      <p:sp>
        <p:nvSpPr>
          <p:cNvPr id="18" name="Text 8"/>
          <p:cNvSpPr/>
          <p:nvPr>
            <p:custDataLst>
              <p:tags r:id="rId15"/>
            </p:custDataLst>
          </p:nvPr>
        </p:nvSpPr>
        <p:spPr>
          <a:xfrm>
            <a:off x="9629775" y="355917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高敏型孩子的潜在问题与风险</a:t>
            </a:r>
            <a:endParaRPr lang="en-US" sz="1600" dirty="0"/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1120140" y="3669665"/>
            <a:ext cx="2761615" cy="2647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心理疾病种类</a:t>
            </a: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会特别</a:t>
            </a: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一旦疾病化，易陷入恶性循环，难以摆脱。</a:t>
            </a:r>
            <a:endParaRPr lang="en-US" sz="1600" dirty="0"/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1097915" y="2960370"/>
            <a:ext cx="280543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心理层面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9-05-17:30:42-d2targlnfo2stf9djjm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275" r="275"/>
          <a:stretch>
            <a:fillRect/>
          </a:stretch>
        </p:blipFill>
        <p:spPr>
          <a:xfrm>
            <a:off x="2160905" y="2049780"/>
            <a:ext cx="688340" cy="691515"/>
          </a:xfrm>
          <a:prstGeom prst="rect">
            <a:avLst/>
          </a:prstGeom>
        </p:spPr>
      </p:pic>
      <p:sp>
        <p:nvSpPr>
          <p:cNvPr id="6" name="Text 3"/>
          <p:cNvSpPr/>
          <p:nvPr>
            <p:custDataLst>
              <p:tags r:id="rId6"/>
            </p:custDataLst>
          </p:nvPr>
        </p:nvSpPr>
        <p:spPr>
          <a:xfrm>
            <a:off x="2152015" y="213614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9-05-17:30:42-d2targlnfo2stf9djjn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856740" y="2232025"/>
            <a:ext cx="1288415" cy="330200"/>
          </a:xfrm>
          <a:prstGeom prst="rect">
            <a:avLst/>
          </a:prstGeom>
        </p:spPr>
      </p:pic>
      <p:sp>
        <p:nvSpPr>
          <p:cNvPr id="8" name="Text 4"/>
          <p:cNvSpPr/>
          <p:nvPr>
            <p:custDataLst>
              <p:tags r:id="rId9"/>
            </p:custDataLst>
          </p:nvPr>
        </p:nvSpPr>
        <p:spPr>
          <a:xfrm>
            <a:off x="4755515" y="3309620"/>
            <a:ext cx="2761615" cy="33889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早年教育环境若与学校环境、社会环境差异太大的话，此类孩子会出现强烈的不适</a:t>
            </a:r>
            <a:endParaRPr lang="zh-CN" altLang="en-US" sz="1600" dirty="0"/>
          </a:p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因为早年的乖巧、被赞许过多，所以此类孩子青春期之后，不适应没有被赞许、被浓浓的爱包裹的环境。</a:t>
            </a:r>
            <a:endParaRPr lang="zh-CN" altLang="en-US" sz="1600" dirty="0"/>
          </a:p>
        </p:txBody>
      </p:sp>
      <p:sp>
        <p:nvSpPr>
          <p:cNvPr id="9" name="Text 5"/>
          <p:cNvSpPr/>
          <p:nvPr>
            <p:custDataLst>
              <p:tags r:id="rId10"/>
            </p:custDataLst>
          </p:nvPr>
        </p:nvSpPr>
        <p:spPr>
          <a:xfrm>
            <a:off x="4733290" y="2960370"/>
            <a:ext cx="280543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环境适应</a:t>
            </a:r>
            <a:endParaRPr lang="en-US" sz="1600" dirty="0"/>
          </a:p>
        </p:txBody>
      </p:sp>
      <p:pic>
        <p:nvPicPr>
          <p:cNvPr id="10" name="Image 2" descr="https://kimi-img.moonshot.cn/pub/slides/slides_tmpl/image/25-09-05-17:30:42-d2targlnfo2stf9djjmg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"/>
          <a:srcRect l="275" r="275"/>
          <a:stretch>
            <a:fillRect/>
          </a:stretch>
        </p:blipFill>
        <p:spPr>
          <a:xfrm>
            <a:off x="5796915" y="2049780"/>
            <a:ext cx="688340" cy="691515"/>
          </a:xfrm>
          <a:prstGeom prst="rect">
            <a:avLst/>
          </a:prstGeom>
        </p:spPr>
      </p:pic>
      <p:sp>
        <p:nvSpPr>
          <p:cNvPr id="11" name="Text 6"/>
          <p:cNvSpPr/>
          <p:nvPr>
            <p:custDataLst>
              <p:tags r:id="rId12"/>
            </p:custDataLst>
          </p:nvPr>
        </p:nvSpPr>
        <p:spPr>
          <a:xfrm>
            <a:off x="5796598" y="214185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pic>
        <p:nvPicPr>
          <p:cNvPr id="12" name="Image 3" descr="https://kimi-img.moonshot.cn/pub/slides/slides_tmpl/image/25-09-05-17:30:42-d2targlnfo2stf9djjng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492115" y="2232025"/>
            <a:ext cx="1288415" cy="33020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4"/>
            </p:custDataLst>
          </p:nvPr>
        </p:nvSpPr>
        <p:spPr>
          <a:xfrm>
            <a:off x="8356600" y="3669665"/>
            <a:ext cx="3041015" cy="2647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容易缺失内在驱动型，兴趣驱动型的动力，所以，其动力不容易持久；</a:t>
            </a: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搞通、搞懂了之后，就容易兴趣缺失，动力消失；</a:t>
            </a: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若没有下一个目标，就容易陷入无聊、无趣的状态当中。</a:t>
            </a:r>
            <a:r>
              <a:rPr lang="en-US" altLang="zh-CN" sz="1600" dirty="0"/>
              <a:t>(YN)</a:t>
            </a:r>
            <a:endParaRPr lang="en-US" altLang="zh-CN" sz="1600" dirty="0"/>
          </a:p>
        </p:txBody>
      </p:sp>
      <p:sp>
        <p:nvSpPr>
          <p:cNvPr id="14" name="Text 8"/>
          <p:cNvSpPr/>
          <p:nvPr>
            <p:custDataLst>
              <p:tags r:id="rId15"/>
            </p:custDataLst>
          </p:nvPr>
        </p:nvSpPr>
        <p:spPr>
          <a:xfrm>
            <a:off x="8373745" y="2960370"/>
            <a:ext cx="280543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动力与自我认知</a:t>
            </a:r>
            <a:endParaRPr lang="en-US" sz="1600" dirty="0"/>
          </a:p>
        </p:txBody>
      </p:sp>
      <p:pic>
        <p:nvPicPr>
          <p:cNvPr id="15" name="Image 4" descr="https://kimi-img.moonshot.cn/pub/slides/slides_tmpl/image/25-09-05-17:30:42-d2targlnfo2stf9djjmg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5"/>
          <a:srcRect l="275" r="275"/>
          <a:stretch>
            <a:fillRect/>
          </a:stretch>
        </p:blipFill>
        <p:spPr>
          <a:xfrm>
            <a:off x="9434195" y="2049780"/>
            <a:ext cx="688340" cy="691515"/>
          </a:xfrm>
          <a:prstGeom prst="rect">
            <a:avLst/>
          </a:prstGeom>
        </p:spPr>
      </p:pic>
      <p:sp>
        <p:nvSpPr>
          <p:cNvPr id="16" name="Text 9"/>
          <p:cNvSpPr/>
          <p:nvPr>
            <p:custDataLst>
              <p:tags r:id="rId17"/>
            </p:custDataLst>
          </p:nvPr>
        </p:nvSpPr>
        <p:spPr>
          <a:xfrm>
            <a:off x="9433560" y="214566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pic>
        <p:nvPicPr>
          <p:cNvPr id="17" name="Image 5" descr="https://kimi-img.moonshot.cn/pub/slides/slides_tmpl/image/25-09-05-17:30:42-d2targlnfo2stf9djjng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132570" y="2232025"/>
            <a:ext cx="1288415" cy="330200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955675" y="5670550"/>
            <a:ext cx="6583045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甚至容易成为问题制造者</a:t>
            </a:r>
            <a:r>
              <a:rPr lang="en-US" altLang="zh-CN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(WL)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105" y="1428750"/>
            <a:ext cx="7322820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高敏型典型人物代表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51535" y="3097530"/>
            <a:ext cx="6583045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典型人物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105" y="3928110"/>
            <a:ext cx="6583680" cy="17360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《长安三万里》中的“李白”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2" name="Image 0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3" name="Image 1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14" name="Image 2" descr="https://kimi-img.moonshot.cn/pub/slides/slides_tmpl/image/25-09-05-17:30:42-d2targlnfo2stf9djjl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" y="6014085"/>
            <a:ext cx="4402455" cy="196850"/>
          </a:xfrm>
          <a:prstGeom prst="rect">
            <a:avLst/>
          </a:prstGeom>
        </p:spPr>
      </p:pic>
      <p:pic>
        <p:nvPicPr>
          <p:cNvPr id="15" name="Image 3" descr="https://kimi-img.moonshot.cn/pub/slides/slides_tmpl/image/25-09-05-17:30:41-d2targdnfo2stf9djjk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380345" y="779145"/>
            <a:ext cx="2066925" cy="5099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3-d2targtnfo2stf9djjrg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0:41-d2targdnfo2stf9djjj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0:41-d2targdnfo2stf9djjk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顿感型孩子特质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3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8890" y="4579620"/>
            <a:ext cx="12190095" cy="510540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wrap="square" lIns="0" tIns="0" rIns="0" bIns="0" rtlCol="0" anchor="t"/>
          <a:p>
            <a:pPr marL="0" indent="0" algn="ctr">
              <a:lnSpc>
                <a:spcPct val="150000"/>
              </a:lnSpc>
              <a:buNone/>
            </a:pPr>
            <a:r>
              <a:rPr lang="zh-CN" altLang="en-US" sz="1600" dirty="0"/>
              <a:t>钝感，就是孩子先天的气质就比较不敏感，他们感知到周围环境的变化的速度较慢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2"/>
            </p:custDataLst>
          </p:nvPr>
        </p:nvSpPr>
        <p:spPr>
          <a:xfrm>
            <a:off x="1710055" y="3168650"/>
            <a:ext cx="2270760" cy="27063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不敏感</a:t>
            </a: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对冷热变化不敏感</a:t>
            </a:r>
            <a:endParaRPr lang="zh-CN" altLang="en-US" sz="1600" dirty="0"/>
          </a:p>
        </p:txBody>
      </p:sp>
      <p:sp>
        <p:nvSpPr>
          <p:cNvPr id="3" name="Text 1"/>
          <p:cNvSpPr/>
          <p:nvPr>
            <p:custDataLst>
              <p:tags r:id="rId3"/>
            </p:custDataLst>
          </p:nvPr>
        </p:nvSpPr>
        <p:spPr>
          <a:xfrm>
            <a:off x="1127760" y="2645410"/>
            <a:ext cx="2853690" cy="714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敏感程度</a:t>
            </a:r>
            <a:endParaRPr lang="en-US" sz="1600" dirty="0"/>
          </a:p>
        </p:txBody>
      </p:sp>
      <p:sp>
        <p:nvSpPr>
          <p:cNvPr id="4" name="Text 2"/>
          <p:cNvSpPr/>
          <p:nvPr>
            <p:custDataLst>
              <p:tags r:id="rId4"/>
            </p:custDataLst>
          </p:nvPr>
        </p:nvSpPr>
        <p:spPr>
          <a:xfrm>
            <a:off x="4728210" y="2799715"/>
            <a:ext cx="285305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天使宝宝，不折腾父母，饿了、尿了才哭</a:t>
            </a:r>
            <a:endParaRPr lang="zh-CN" altLang="en-US" sz="1600" dirty="0"/>
          </a:p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安静、自得其乐、可以一个人独处</a:t>
            </a:r>
            <a:endParaRPr lang="zh-CN" altLang="en-US" sz="1600" dirty="0"/>
          </a:p>
        </p:txBody>
      </p:sp>
      <p:sp>
        <p:nvSpPr>
          <p:cNvPr id="5" name="Text 3"/>
          <p:cNvSpPr/>
          <p:nvPr>
            <p:custDataLst>
              <p:tags r:id="rId5"/>
            </p:custDataLst>
          </p:nvPr>
        </p:nvSpPr>
        <p:spPr>
          <a:xfrm>
            <a:off x="4728210" y="2085975"/>
            <a:ext cx="2853690" cy="714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互动</a:t>
            </a: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反应</a:t>
            </a:r>
            <a:endParaRPr lang="en-US" sz="1600" dirty="0"/>
          </a:p>
        </p:txBody>
      </p:sp>
      <p:sp>
        <p:nvSpPr>
          <p:cNvPr id="6" name="Text 4"/>
          <p:cNvSpPr/>
          <p:nvPr>
            <p:custDataLst>
              <p:tags r:id="rId6"/>
            </p:custDataLst>
          </p:nvPr>
        </p:nvSpPr>
        <p:spPr>
          <a:xfrm>
            <a:off x="8627745" y="3491230"/>
            <a:ext cx="255333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好睡觉，吃了睡、睡了吃</a:t>
            </a:r>
            <a:endParaRPr lang="zh-CN" altLang="en-US" sz="1600" dirty="0"/>
          </a:p>
        </p:txBody>
      </p:sp>
      <p:sp>
        <p:nvSpPr>
          <p:cNvPr id="7" name="Text 5"/>
          <p:cNvSpPr/>
          <p:nvPr>
            <p:custDataLst>
              <p:tags r:id="rId7"/>
            </p:custDataLst>
          </p:nvPr>
        </p:nvSpPr>
        <p:spPr>
          <a:xfrm>
            <a:off x="8328025" y="2777490"/>
            <a:ext cx="2853690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睡眠特征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6298" y="657860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钝感型孩子特质及判断</a:t>
            </a:r>
            <a:r>
              <a:rPr lang="en-US" altLang="zh-CN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——</a:t>
            </a: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刚出生时的指标</a:t>
            </a: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征</a:t>
            </a:r>
            <a:endParaRPr lang="en-US" sz="1600" dirty="0"/>
          </a:p>
        </p:txBody>
      </p:sp>
      <p:sp>
        <p:nvSpPr>
          <p:cNvPr id="9" name="Shape 7"/>
          <p:cNvSpPr/>
          <p:nvPr>
            <p:custDataLst>
              <p:tags r:id="rId8"/>
            </p:custDataLst>
          </p:nvPr>
        </p:nvSpPr>
        <p:spPr>
          <a:xfrm>
            <a:off x="42672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>
            <p:custDataLst>
              <p:tags r:id="rId9"/>
            </p:custDataLst>
          </p:nvPr>
        </p:nvSpPr>
        <p:spPr>
          <a:xfrm>
            <a:off x="79248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pic>
        <p:nvPicPr>
          <p:cNvPr id="11" name="Image 0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10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2" name="Image 1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10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13" name="Image 2" descr="https://kimi-img.moonshot.cn/pub/slides/slides_tmpl/image/25-09-05-17:30:42-d2targlnfo2stf9djjl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8210" y="5626735"/>
            <a:ext cx="2939415" cy="1314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3-d2targtnfo2stf9djjrg.jpg"/>
          <p:cNvPicPr>
            <a:picLocks noChangeAspect="1"/>
          </p:cNvPicPr>
          <p:nvPr/>
        </p:nvPicPr>
        <p:blipFill>
          <a:blip r:embed="rId2">
            <a:alphaModFix amt="56000"/>
          </a:blip>
          <a:srcRect l="4" t="11111" r="18329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812800"/>
            <a:ext cx="1064958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钝感型孩子特质及判断</a:t>
            </a:r>
            <a:r>
              <a:rPr lang="en-US" altLang="zh-CN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——</a:t>
            </a: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观察</a:t>
            </a:r>
            <a:endParaRPr lang="zh-CN" altLang="en-US" sz="36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2770505" y="1993265"/>
            <a:ext cx="7732395" cy="5880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不会观察父母</a:t>
            </a:r>
            <a:endParaRPr lang="zh-CN" altLang="en-US" sz="2000" dirty="0">
              <a:solidFill>
                <a:srgbClr val="0439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2770505" y="4587875"/>
            <a:ext cx="7731760" cy="1470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对于父母的要求，经常搞不清楚父母的意图</a:t>
            </a: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父母经常以为孩子应该懂了，但他实际上就是不懂</a:t>
            </a:r>
            <a:endParaRPr lang="zh-CN" altLang="en-US" sz="1600" dirty="0"/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2770505" y="4004945"/>
            <a:ext cx="7732395" cy="582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不会捕捉父母的心思</a:t>
            </a:r>
            <a:endParaRPr lang="zh-CN" altLang="en-US" sz="2000" dirty="0">
              <a:solidFill>
                <a:srgbClr val="0439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5" name="Image 1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6" name="Image 2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sp>
        <p:nvSpPr>
          <p:cNvPr id="17" name="Text 12"/>
          <p:cNvSpPr/>
          <p:nvPr>
            <p:custDataLst>
              <p:tags r:id="rId7"/>
            </p:custDataLst>
          </p:nvPr>
        </p:nvSpPr>
        <p:spPr>
          <a:xfrm>
            <a:off x="1722755" y="1976755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3"/>
          <p:cNvSpPr/>
          <p:nvPr>
            <p:custDataLst>
              <p:tags r:id="rId8"/>
            </p:custDataLst>
          </p:nvPr>
        </p:nvSpPr>
        <p:spPr>
          <a:xfrm>
            <a:off x="1722755" y="4004945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19" name="Image 3" descr="https://kimi-img.moonshot.cn/pub/slides/slides_tmpl/image/25-09-05-17:30:42-d2targlnfo2stf9djjl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9980" y="1235075"/>
            <a:ext cx="2939415" cy="1314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0560" y="4028440"/>
            <a:ext cx="10930890" cy="242824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0560" y="1475105"/>
            <a:ext cx="10930890" cy="2428240"/>
          </a:xfrm>
          <a:prstGeom prst="rect">
            <a:avLst/>
          </a:prstGeom>
        </p:spPr>
      </p:pic>
      <p:sp>
        <p:nvSpPr>
          <p:cNvPr id="4" name="Text 0"/>
          <p:cNvSpPr/>
          <p:nvPr>
            <p:custDataLst>
              <p:tags r:id="rId5"/>
            </p:custDataLst>
          </p:nvPr>
        </p:nvSpPr>
        <p:spPr>
          <a:xfrm>
            <a:off x="1303655" y="1740535"/>
            <a:ext cx="3771900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应变慢</a:t>
            </a:r>
            <a:endParaRPr lang="en-US" sz="1600" dirty="0"/>
          </a:p>
        </p:txBody>
      </p:sp>
      <p:sp>
        <p:nvSpPr>
          <p:cNvPr id="5" name="Text 1"/>
          <p:cNvSpPr/>
          <p:nvPr>
            <p:custDataLst>
              <p:tags r:id="rId6"/>
            </p:custDataLst>
          </p:nvPr>
        </p:nvSpPr>
        <p:spPr>
          <a:xfrm>
            <a:off x="1125220" y="2155825"/>
            <a:ext cx="4496435" cy="1709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父母变化，他也不能及时察觉到</a:t>
            </a:r>
            <a:endParaRPr lang="zh-CN" altLang="en-US" sz="1600" dirty="0"/>
          </a:p>
        </p:txBody>
      </p:sp>
      <p:sp>
        <p:nvSpPr>
          <p:cNvPr id="6" name="Text 2"/>
          <p:cNvSpPr/>
          <p:nvPr>
            <p:custDataLst>
              <p:tags r:id="rId7"/>
            </p:custDataLst>
          </p:nvPr>
        </p:nvSpPr>
        <p:spPr>
          <a:xfrm>
            <a:off x="1303655" y="4274820"/>
            <a:ext cx="3771900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社会适应力不强</a:t>
            </a:r>
            <a:endParaRPr lang="zh-CN" altLang="en-US" sz="2000" dirty="0">
              <a:solidFill>
                <a:srgbClr val="0439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0" name="Text 6"/>
          <p:cNvSpPr/>
          <p:nvPr>
            <p:custDataLst>
              <p:tags r:id="rId8"/>
            </p:custDataLst>
          </p:nvPr>
        </p:nvSpPr>
        <p:spPr>
          <a:xfrm>
            <a:off x="7157720" y="4274820"/>
            <a:ext cx="3771900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养育者的体验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9"/>
            </p:custDataLst>
          </p:nvPr>
        </p:nvSpPr>
        <p:spPr>
          <a:xfrm>
            <a:off x="7000875" y="4779010"/>
            <a:ext cx="4496435" cy="1805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1600" dirty="0"/>
              <a:t>需要父母非常耐心的教</a:t>
            </a:r>
            <a:endParaRPr 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581660" y="532130"/>
            <a:ext cx="10966450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钝感型孩子特质及判断</a:t>
            </a:r>
            <a:r>
              <a:rPr lang="en-US" altLang="zh-CN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——</a:t>
            </a: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应变</a:t>
            </a:r>
            <a:endParaRPr lang="en-US" sz="1600" dirty="0"/>
          </a:p>
        </p:txBody>
      </p:sp>
      <p:sp>
        <p:nvSpPr>
          <p:cNvPr id="8" name="Text 0"/>
          <p:cNvSpPr/>
          <p:nvPr>
            <p:custDataLst>
              <p:tags r:id="rId10"/>
            </p:custDataLst>
          </p:nvPr>
        </p:nvSpPr>
        <p:spPr>
          <a:xfrm>
            <a:off x="7157720" y="1740535"/>
            <a:ext cx="3771900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容易受挫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3-d2targtnfo2stf9djjrg.jpg"/>
          <p:cNvPicPr>
            <a:picLocks noChangeAspect="1"/>
          </p:cNvPicPr>
          <p:nvPr/>
        </p:nvPicPr>
        <p:blipFill>
          <a:blip r:embed="rId2">
            <a:alphaModFix amt="17000"/>
          </a:blip>
          <a:srcRect l="4" t="11111" r="18329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flipH="1">
            <a:off x="1062990" y="4972050"/>
            <a:ext cx="8926830" cy="16637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60955" y="1395095"/>
            <a:ext cx="8691880" cy="363474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41020" y="440055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钝感型孩子特质及判断</a:t>
            </a:r>
            <a:r>
              <a:rPr lang="en-US" altLang="zh-CN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——</a:t>
            </a: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其他典型表现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612140"/>
            <a:ext cx="762000" cy="7620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742950"/>
            <a:ext cx="762000" cy="76200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7"/>
            </p:custDataLst>
          </p:nvPr>
        </p:nvSpPr>
        <p:spPr>
          <a:xfrm>
            <a:off x="3457575" y="1903095"/>
            <a:ext cx="7795260" cy="11201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不会想主导父母</a:t>
            </a:r>
            <a:endParaRPr lang="zh-CN" altLang="en-US" sz="1600" dirty="0"/>
          </a:p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嘴笨、语言上会较为笨拙</a:t>
            </a:r>
            <a:endParaRPr lang="zh-CN" altLang="en-US" sz="1600" dirty="0"/>
          </a:p>
        </p:txBody>
      </p:sp>
      <p:sp>
        <p:nvSpPr>
          <p:cNvPr id="10" name="Text 2"/>
          <p:cNvSpPr/>
          <p:nvPr>
            <p:custDataLst>
              <p:tags r:id="rId8"/>
            </p:custDataLst>
          </p:nvPr>
        </p:nvSpPr>
        <p:spPr>
          <a:xfrm>
            <a:off x="3457575" y="1551305"/>
            <a:ext cx="7733665" cy="440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沟通与主导</a:t>
            </a:r>
            <a:endParaRPr lang="en-US" sz="1600" dirty="0"/>
          </a:p>
        </p:txBody>
      </p:sp>
      <p:sp>
        <p:nvSpPr>
          <p:cNvPr id="11" name="Text 3"/>
          <p:cNvSpPr/>
          <p:nvPr>
            <p:custDataLst>
              <p:tags r:id="rId9"/>
            </p:custDataLst>
          </p:nvPr>
        </p:nvSpPr>
        <p:spPr>
          <a:xfrm>
            <a:off x="1395095" y="5539740"/>
            <a:ext cx="779526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r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在意自己的感受，兴趣驱动型，知道自己要什么</a:t>
            </a:r>
            <a:endParaRPr lang="zh-CN" altLang="en-US" sz="1600" dirty="0"/>
          </a:p>
          <a:p>
            <a:pPr marL="285750" indent="-285750" algn="r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对喜欢的东西容易长时间的自得其乐</a:t>
            </a:r>
            <a:endParaRPr lang="zh-CN" altLang="en-US" sz="1600" dirty="0"/>
          </a:p>
          <a:p>
            <a:pPr marL="285750" indent="-285750" algn="r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某类社会能力很弱的天才</a:t>
            </a:r>
            <a:endParaRPr lang="zh-CN" altLang="en-US" sz="1600" dirty="0"/>
          </a:p>
        </p:txBody>
      </p:sp>
      <p:sp>
        <p:nvSpPr>
          <p:cNvPr id="12" name="Text 4"/>
          <p:cNvSpPr/>
          <p:nvPr>
            <p:custDataLst>
              <p:tags r:id="rId10"/>
            </p:custDataLst>
          </p:nvPr>
        </p:nvSpPr>
        <p:spPr>
          <a:xfrm>
            <a:off x="1395095" y="5187950"/>
            <a:ext cx="7795260" cy="363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兴趣驱动型</a:t>
            </a:r>
            <a:endParaRPr lang="zh-CN" altLang="en-US" sz="2000" dirty="0">
              <a:solidFill>
                <a:srgbClr val="0439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5" name="Image 6" descr="https://kimi-img.moonshot.cn/pub/slides/slides_tmpl/image/25-09-05-17:30:42-d2targlnfo2stf9djjmg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275" r="275"/>
          <a:stretch>
            <a:fillRect/>
          </a:stretch>
        </p:blipFill>
        <p:spPr>
          <a:xfrm>
            <a:off x="2296795" y="1903095"/>
            <a:ext cx="688340" cy="691515"/>
          </a:xfrm>
          <a:prstGeom prst="rect">
            <a:avLst/>
          </a:prstGeom>
        </p:spPr>
      </p:pic>
      <p:sp>
        <p:nvSpPr>
          <p:cNvPr id="16" name="Text 7"/>
          <p:cNvSpPr/>
          <p:nvPr>
            <p:custDataLst>
              <p:tags r:id="rId13"/>
            </p:custDataLst>
          </p:nvPr>
        </p:nvSpPr>
        <p:spPr>
          <a:xfrm>
            <a:off x="2301240" y="199326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17" name="Image 7" descr="https://kimi-img.moonshot.cn/pub/slides/slides_tmpl/image/25-09-05-17:30:42-d2targlnfo2stf9djjmg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2"/>
          <a:srcRect l="275" r="275"/>
          <a:stretch>
            <a:fillRect/>
          </a:stretch>
        </p:blipFill>
        <p:spPr>
          <a:xfrm>
            <a:off x="9625330" y="5356860"/>
            <a:ext cx="688340" cy="691515"/>
          </a:xfrm>
          <a:prstGeom prst="rect">
            <a:avLst/>
          </a:prstGeom>
        </p:spPr>
      </p:pic>
      <p:sp>
        <p:nvSpPr>
          <p:cNvPr id="18" name="Text 8"/>
          <p:cNvSpPr/>
          <p:nvPr>
            <p:custDataLst>
              <p:tags r:id="rId15"/>
            </p:custDataLst>
          </p:nvPr>
        </p:nvSpPr>
        <p:spPr>
          <a:xfrm>
            <a:off x="9629775" y="544703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3-d2targtnfo2stf9djjrg.jpg"/>
          <p:cNvPicPr>
            <a:picLocks noChangeAspect="1"/>
          </p:cNvPicPr>
          <p:nvPr/>
        </p:nvPicPr>
        <p:blipFill>
          <a:blip r:embed="rId2">
            <a:alphaModFix amt="17000"/>
          </a:blip>
          <a:srcRect l="4" t="11111" r="18329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flipH="1">
            <a:off x="1062990" y="3084195"/>
            <a:ext cx="8926830" cy="354203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60955" y="1395095"/>
            <a:ext cx="8691880" cy="158813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41020" y="440055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钝感型孩子特质及判断</a:t>
            </a:r>
            <a:r>
              <a:rPr lang="en-US" altLang="zh-CN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——</a:t>
            </a: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其他典型表现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612140"/>
            <a:ext cx="762000" cy="7620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742950"/>
            <a:ext cx="762000" cy="76200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7"/>
            </p:custDataLst>
          </p:nvPr>
        </p:nvSpPr>
        <p:spPr>
          <a:xfrm>
            <a:off x="3457575" y="1903095"/>
            <a:ext cx="7795260" cy="11201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社会学习能力比较弱，比较晚启动有意识的社会学习</a:t>
            </a:r>
            <a:endParaRPr lang="zh-CN" altLang="en-US" sz="1600" dirty="0"/>
          </a:p>
        </p:txBody>
      </p:sp>
      <p:sp>
        <p:nvSpPr>
          <p:cNvPr id="10" name="Text 2"/>
          <p:cNvSpPr/>
          <p:nvPr>
            <p:custDataLst>
              <p:tags r:id="rId8"/>
            </p:custDataLst>
          </p:nvPr>
        </p:nvSpPr>
        <p:spPr>
          <a:xfrm>
            <a:off x="3457575" y="1551305"/>
            <a:ext cx="7733665" cy="440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学习能力</a:t>
            </a:r>
            <a:endParaRPr lang="en-US" sz="1600" dirty="0"/>
          </a:p>
        </p:txBody>
      </p:sp>
      <p:sp>
        <p:nvSpPr>
          <p:cNvPr id="11" name="Text 3"/>
          <p:cNvSpPr/>
          <p:nvPr>
            <p:custDataLst>
              <p:tags r:id="rId9"/>
            </p:custDataLst>
          </p:nvPr>
        </p:nvSpPr>
        <p:spPr>
          <a:xfrm>
            <a:off x="1395095" y="3651885"/>
            <a:ext cx="7795260" cy="25165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r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容易执拗，很坚持自己想要的</a:t>
            </a:r>
            <a:endParaRPr lang="zh-CN" altLang="en-US" sz="1600" dirty="0"/>
          </a:p>
          <a:p>
            <a:pPr marL="285750" indent="-285750" algn="r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我向思维停留比较久</a:t>
            </a:r>
            <a:r>
              <a:rPr lang="en-US" altLang="zh-CN" sz="1600" dirty="0"/>
              <a:t>——</a:t>
            </a:r>
            <a:r>
              <a:rPr lang="zh-CN" altLang="en-US" sz="1600" dirty="0">
                <a:sym typeface="+mn-ea"/>
              </a:rPr>
              <a:t>自我中心性</a:t>
            </a:r>
            <a:endParaRPr lang="zh-CN" altLang="en-US" sz="1600" dirty="0"/>
          </a:p>
          <a:p>
            <a:pPr marL="285750" indent="-285750" algn="r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容易不管别人怎么考虑</a:t>
            </a:r>
            <a:r>
              <a:rPr lang="en-US" altLang="zh-CN" sz="1600" dirty="0"/>
              <a:t>——</a:t>
            </a:r>
            <a:r>
              <a:rPr lang="zh-CN" altLang="en-US" sz="1600" dirty="0">
                <a:sym typeface="+mn-ea"/>
              </a:rPr>
              <a:t>去中心化较晚</a:t>
            </a:r>
            <a:endParaRPr lang="zh-CN" altLang="en-US" sz="1600" dirty="0"/>
          </a:p>
          <a:p>
            <a:pPr marL="0" indent="0" algn="r">
              <a:lnSpc>
                <a:spcPct val="150000"/>
              </a:lnSpc>
              <a:buNone/>
            </a:pPr>
            <a:endParaRPr lang="zh-CN" altLang="en-US" sz="1600" dirty="0"/>
          </a:p>
          <a:p>
            <a:pPr marL="0" indent="0" algn="r">
              <a:lnSpc>
                <a:spcPct val="150000"/>
              </a:lnSpc>
              <a:buNone/>
            </a:pPr>
            <a:endParaRPr lang="zh-CN" altLang="en-US" sz="1600" dirty="0"/>
          </a:p>
        </p:txBody>
      </p:sp>
      <p:sp>
        <p:nvSpPr>
          <p:cNvPr id="12" name="Text 4"/>
          <p:cNvSpPr/>
          <p:nvPr>
            <p:custDataLst>
              <p:tags r:id="rId10"/>
            </p:custDataLst>
          </p:nvPr>
        </p:nvSpPr>
        <p:spPr>
          <a:xfrm>
            <a:off x="1395095" y="3300095"/>
            <a:ext cx="7795260" cy="363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可以独处，容易沉迷在自己的世界里</a:t>
            </a:r>
            <a:endParaRPr lang="zh-CN" altLang="en-US" sz="2000" dirty="0">
              <a:solidFill>
                <a:srgbClr val="0439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5" name="Image 6" descr="https://kimi-img.moonshot.cn/pub/slides/slides_tmpl/image/25-09-05-17:30:42-d2targlnfo2stf9djjmg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275" r="275"/>
          <a:stretch>
            <a:fillRect/>
          </a:stretch>
        </p:blipFill>
        <p:spPr>
          <a:xfrm>
            <a:off x="2296795" y="1903095"/>
            <a:ext cx="688340" cy="691515"/>
          </a:xfrm>
          <a:prstGeom prst="rect">
            <a:avLst/>
          </a:prstGeom>
        </p:spPr>
      </p:pic>
      <p:sp>
        <p:nvSpPr>
          <p:cNvPr id="16" name="Text 7"/>
          <p:cNvSpPr/>
          <p:nvPr>
            <p:custDataLst>
              <p:tags r:id="rId13"/>
            </p:custDataLst>
          </p:nvPr>
        </p:nvSpPr>
        <p:spPr>
          <a:xfrm>
            <a:off x="2301240" y="199326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pic>
        <p:nvPicPr>
          <p:cNvPr id="17" name="Image 7" descr="https://kimi-img.moonshot.cn/pub/slides/slides_tmpl/image/25-09-05-17:30:42-d2targlnfo2stf9djjmg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2"/>
          <a:srcRect l="275" r="275"/>
          <a:stretch>
            <a:fillRect/>
          </a:stretch>
        </p:blipFill>
        <p:spPr>
          <a:xfrm>
            <a:off x="9625330" y="3469005"/>
            <a:ext cx="688340" cy="691515"/>
          </a:xfrm>
          <a:prstGeom prst="rect">
            <a:avLst/>
          </a:prstGeom>
        </p:spPr>
      </p:pic>
      <p:sp>
        <p:nvSpPr>
          <p:cNvPr id="18" name="Text 8"/>
          <p:cNvSpPr/>
          <p:nvPr>
            <p:custDataLst>
              <p:tags r:id="rId15"/>
            </p:custDataLst>
          </p:nvPr>
        </p:nvSpPr>
        <p:spPr>
          <a:xfrm>
            <a:off x="9629775" y="355917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2-d2targlnfo2stf9djjm0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461645" y="1942465"/>
            <a:ext cx="11273790" cy="45078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790" y="892175"/>
            <a:ext cx="1064958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钝</a:t>
            </a: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感型孩子的潜在问题与风险</a:t>
            </a:r>
            <a:endParaRPr lang="en-US" sz="1600" dirty="0"/>
          </a:p>
        </p:txBody>
      </p:sp>
      <p:sp>
        <p:nvSpPr>
          <p:cNvPr id="4" name="Text 1"/>
          <p:cNvSpPr/>
          <p:nvPr>
            <p:custDataLst>
              <p:tags r:id="rId3"/>
            </p:custDataLst>
          </p:nvPr>
        </p:nvSpPr>
        <p:spPr>
          <a:xfrm>
            <a:off x="821055" y="2287905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适应与自我认同</a:t>
            </a:r>
            <a:endParaRPr lang="en-US" sz="1600" dirty="0"/>
          </a:p>
        </p:txBody>
      </p:sp>
      <p:sp>
        <p:nvSpPr>
          <p:cNvPr id="5" name="Text 2"/>
          <p:cNvSpPr/>
          <p:nvPr>
            <p:custDataLst>
              <p:tags r:id="rId4"/>
            </p:custDataLst>
          </p:nvPr>
        </p:nvSpPr>
        <p:spPr>
          <a:xfrm>
            <a:off x="795655" y="2704465"/>
            <a:ext cx="4998085" cy="15982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适应不良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受挫过多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易自卑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缺乏自我效能感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57950" y="4302760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学习层面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57950" y="4719320"/>
            <a:ext cx="4998085" cy="15982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学习表现依赖智商与兴趣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普通智商的朴娃学习上如果没有父母，老师有意识的培养，不容易出彩</a:t>
            </a:r>
            <a:endParaRPr lang="zh-CN" alt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318625" y="6332855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5" name="Image 1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6" name="Image 2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17" name="Image 3" descr="https://kimi-img.moonshot.cn/pub/slides/slides_tmpl/image/25-09-05-17:30:42-d2targlnfo2stf9djjl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9980" y="1269365"/>
            <a:ext cx="2939415" cy="131445"/>
          </a:xfrm>
          <a:prstGeom prst="rect">
            <a:avLst/>
          </a:prstGeom>
        </p:spPr>
      </p:pic>
      <p:sp>
        <p:nvSpPr>
          <p:cNvPr id="18" name="Text 1"/>
          <p:cNvSpPr/>
          <p:nvPr>
            <p:custDataLst>
              <p:tags r:id="rId7"/>
            </p:custDataLst>
          </p:nvPr>
        </p:nvSpPr>
        <p:spPr>
          <a:xfrm>
            <a:off x="6457950" y="2272665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环境层面</a:t>
            </a:r>
            <a:endParaRPr lang="zh-CN" altLang="en-US" sz="2000" dirty="0">
              <a:solidFill>
                <a:srgbClr val="0439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9" name="Text 2"/>
          <p:cNvSpPr/>
          <p:nvPr>
            <p:custDataLst>
              <p:tags r:id="rId8"/>
            </p:custDataLst>
          </p:nvPr>
        </p:nvSpPr>
        <p:spPr>
          <a:xfrm>
            <a:off x="6432550" y="2689225"/>
            <a:ext cx="4998085" cy="159829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容易被父母嫌弃</a:t>
            </a: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被环境嫌弃</a:t>
            </a: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被他人否定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3-d2targtnfo2stf9djjrg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4580" y="3429000"/>
            <a:ext cx="3796665" cy="27565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《长安三万里》中的“高适”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913765" y="918210"/>
            <a:ext cx="10468610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顿感型典型人物代表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166485" y="2667635"/>
            <a:ext cx="5436870" cy="511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典型人物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3" name="Image 1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4" name="Image 2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15" name="Image 3" descr="https://kimi-img.moonshot.cn/pub/slides/slides_tmpl/image/25-09-05-17:30:42-d2targlnfo2stf9djjl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65" y="1829435"/>
            <a:ext cx="3526790" cy="157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3-d2targtnfo2stf9djjrg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0:41-d2targdnfo2stf9djjj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0:41-d2targdnfo2stf9djjk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困难型孩子特质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3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3-d2targtnfo2stf9djjq0.png"/>
          <p:cNvPicPr>
            <a:picLocks noChangeAspect="1"/>
          </p:cNvPicPr>
          <p:nvPr/>
        </p:nvPicPr>
        <p:blipFill>
          <a:blip r:embed="rId2">
            <a:alphaModFix amt="40000"/>
          </a:blip>
          <a:srcRect t="12164" b="6895"/>
          <a:stretch>
            <a:fillRect/>
          </a:stretch>
        </p:blipFill>
        <p:spPr>
          <a:xfrm>
            <a:off x="1151255" y="0"/>
            <a:ext cx="361505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21075" y="2136140"/>
            <a:ext cx="7795260" cy="1476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先天气质里劲很大，执拗期特别长、特别久、特别难带</a:t>
            </a: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1600" dirty="0"/>
              <a:t>3~5</a:t>
            </a:r>
            <a:r>
              <a:rPr lang="zh-CN" altLang="en-US" sz="1600" dirty="0"/>
              <a:t>岁之间如果没有修正过来，长大后，就很难修正了。</a:t>
            </a: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长大后会用赌气的方式。而且特别容易赌气，一赌就赌一辈子</a:t>
            </a:r>
            <a:r>
              <a:rPr lang="en-US" altLang="zh-CN" sz="1600" dirty="0"/>
              <a:t>(Z*M)</a:t>
            </a:r>
            <a:endParaRPr lang="en-US" altLang="zh-CN" sz="1600" dirty="0"/>
          </a:p>
        </p:txBody>
      </p:sp>
      <p:sp>
        <p:nvSpPr>
          <p:cNvPr id="4" name="Text 1"/>
          <p:cNvSpPr/>
          <p:nvPr>
            <p:custDataLst>
              <p:tags r:id="rId3"/>
            </p:custDataLst>
          </p:nvPr>
        </p:nvSpPr>
        <p:spPr>
          <a:xfrm>
            <a:off x="3521075" y="1721485"/>
            <a:ext cx="6654165" cy="3721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040890" y="4004310"/>
            <a:ext cx="7795260" cy="1476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只能顺毛摸、心情好时，什么都好说，心情不好怎么劝都没有用</a:t>
            </a:r>
            <a:endParaRPr lang="zh-CN" altLang="en-US" sz="1600" dirty="0"/>
          </a:p>
        </p:txBody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2040890" y="3589655"/>
            <a:ext cx="7706360" cy="3765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互动模式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08045" y="5356860"/>
            <a:ext cx="7794625" cy="1476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容易意志过强，想要就非要，没有第二条路可以选</a:t>
            </a: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不撞南墙不回头，撞了南墙也很难回头</a:t>
            </a:r>
            <a:endParaRPr lang="zh-CN" altLang="en-US" sz="1600" dirty="0"/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3408045" y="4942205"/>
            <a:ext cx="6570345" cy="3340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意志特点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困难型孩子的核心气质特征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9-05-17:30:42-d2targlnfo2stf9djjm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275" r="275"/>
          <a:stretch>
            <a:fillRect/>
          </a:stretch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9-05-17:30:42-d2targlnfo2stf9djjm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7"/>
          <a:srcRect l="275" r="275"/>
          <a:stretch>
            <a:fillRect/>
          </a:stretch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9-05-17:30:42-d2targlnfo2stf9djjm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/>
          <a:srcRect l="275" r="275"/>
          <a:stretch>
            <a:fillRect/>
          </a:stretch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0"/>
            </p:custDataLst>
          </p:nvPr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8"/>
          <p:cNvSpPr/>
          <p:nvPr>
            <p:custDataLst>
              <p:tags r:id="rId11"/>
            </p:custDataLst>
          </p:nvPr>
        </p:nvSpPr>
        <p:spPr>
          <a:xfrm>
            <a:off x="854710" y="342900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9"/>
          <p:cNvSpPr/>
          <p:nvPr>
            <p:custDataLst>
              <p:tags r:id="rId12"/>
            </p:custDataLst>
          </p:nvPr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3-d2targtnfo2stf9djjrg.jpg"/>
          <p:cNvPicPr>
            <a:picLocks noChangeAspect="1"/>
          </p:cNvPicPr>
          <p:nvPr/>
        </p:nvPicPr>
        <p:blipFill>
          <a:blip r:embed="rId2">
            <a:alphaModFix amt="56000"/>
          </a:blip>
          <a:srcRect l="4" t="11111" r="18329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155" y="905510"/>
            <a:ext cx="1064958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困难型孩子的</a:t>
            </a: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情绪</a:t>
            </a: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表现</a:t>
            </a:r>
            <a:endParaRPr lang="en-US" sz="1600" dirty="0"/>
          </a:p>
        </p:txBody>
      </p:sp>
      <p:sp>
        <p:nvSpPr>
          <p:cNvPr id="4" name="Text 1"/>
          <p:cNvSpPr/>
          <p:nvPr>
            <p:custDataLst>
              <p:tags r:id="rId3"/>
            </p:custDataLst>
          </p:nvPr>
        </p:nvSpPr>
        <p:spPr>
          <a:xfrm>
            <a:off x="3794125" y="2454275"/>
            <a:ext cx="7854950" cy="1377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容易梗在情绪上，并且被情绪控制住，完全无法自行让情绪下去</a:t>
            </a: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比如：</a:t>
            </a:r>
            <a:r>
              <a:rPr lang="zh-CN" altLang="en-US" sz="1600" dirty="0"/>
              <a:t>一哭哭几个小时不停的，地上可以哭出一个小土坑，哭到睡着了还在继续哭。</a:t>
            </a:r>
            <a:endParaRPr lang="zh-CN" altLang="en-US" sz="1600" dirty="0"/>
          </a:p>
        </p:txBody>
      </p:sp>
      <p:sp>
        <p:nvSpPr>
          <p:cNvPr id="5" name="Text 2"/>
          <p:cNvSpPr/>
          <p:nvPr>
            <p:custDataLst>
              <p:tags r:id="rId4"/>
            </p:custDataLst>
          </p:nvPr>
        </p:nvSpPr>
        <p:spPr>
          <a:xfrm>
            <a:off x="4057650" y="2143125"/>
            <a:ext cx="7212965" cy="576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情绪</a:t>
            </a: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容易梗住</a:t>
            </a:r>
            <a:endParaRPr lang="zh-CN" altLang="en-US" sz="2000" dirty="0">
              <a:solidFill>
                <a:srgbClr val="0439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991235" y="4338955"/>
            <a:ext cx="8864600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父母无可奈何，不论打、骂、哄、都没有用，所以，称之为困难型。</a:t>
            </a:r>
            <a:endParaRPr lang="zh-CN" altLang="en-US" sz="2000" dirty="0">
              <a:solidFill>
                <a:srgbClr val="0439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2000" dirty="0">
              <a:solidFill>
                <a:srgbClr val="0439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只要她想、开心，什么都好说，但他要是不开心，不想，九头牛都拉不回来。</a:t>
            </a:r>
            <a:endParaRPr lang="zh-CN" altLang="en-US" sz="2000" dirty="0">
              <a:solidFill>
                <a:srgbClr val="0439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5" name="Image 1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6" name="Image 2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pic>
        <p:nvPicPr>
          <p:cNvPr id="17" name="Image 3" descr="https://kimi-img.moonshot.cn/pub/slides/slides_tmpl/image/25-09-05-17:30:42-d2targlnfo2stf9djjl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9980" y="1269365"/>
            <a:ext cx="2939415" cy="13144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3-d2targtnfo2stf9djjrg.jpg"/>
          <p:cNvPicPr>
            <a:picLocks noChangeAspect="1"/>
          </p:cNvPicPr>
          <p:nvPr/>
        </p:nvPicPr>
        <p:blipFill>
          <a:blip r:embed="rId2">
            <a:alphaModFix amt="17000"/>
          </a:blip>
          <a:srcRect l="4" t="11111" r="18329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99360" y="4895850"/>
            <a:ext cx="8691880" cy="158813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 flipH="1">
            <a:off x="1062990" y="3084195"/>
            <a:ext cx="8926830" cy="16637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0:41-d2targdnfo2stf9djjjg.jp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60955" y="1395095"/>
            <a:ext cx="8691880" cy="158813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41020" y="440055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困难型孩子的</a:t>
            </a: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气质表现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10751820" y="612140"/>
            <a:ext cx="762000" cy="7620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10751820" y="742950"/>
            <a:ext cx="762000" cy="76200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8"/>
            </p:custDataLst>
          </p:nvPr>
        </p:nvSpPr>
        <p:spPr>
          <a:xfrm>
            <a:off x="3457575" y="1903095"/>
            <a:ext cx="7340600" cy="11201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600" dirty="0"/>
              <a:t>因为倔强，所以，从小父母顺毛摸她成为习惯了，所以，其身上会自带理所当然的气质，就是别人就应该让着我，顺着我。</a:t>
            </a:r>
            <a:endParaRPr lang="zh-CN" altLang="en-US" sz="1600" dirty="0"/>
          </a:p>
        </p:txBody>
      </p:sp>
      <p:sp>
        <p:nvSpPr>
          <p:cNvPr id="10" name="Text 2"/>
          <p:cNvSpPr/>
          <p:nvPr>
            <p:custDataLst>
              <p:tags r:id="rId9"/>
            </p:custDataLst>
          </p:nvPr>
        </p:nvSpPr>
        <p:spPr>
          <a:xfrm>
            <a:off x="3457575" y="1551305"/>
            <a:ext cx="7733665" cy="440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理所当然</a:t>
            </a:r>
            <a:endParaRPr lang="en-US" sz="1600" dirty="0"/>
          </a:p>
        </p:txBody>
      </p:sp>
      <p:sp>
        <p:nvSpPr>
          <p:cNvPr id="11" name="Text 3"/>
          <p:cNvSpPr/>
          <p:nvPr>
            <p:custDataLst>
              <p:tags r:id="rId10"/>
            </p:custDataLst>
          </p:nvPr>
        </p:nvSpPr>
        <p:spPr>
          <a:xfrm>
            <a:off x="1395095" y="3651885"/>
            <a:ext cx="779526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zh-CN" altLang="en-US" sz="1600" dirty="0"/>
              <a:t>好处是，也挺受欢迎的，因为自带光芒，没有小心思，为人大气，豁达，一般不计较。</a:t>
            </a:r>
            <a:endParaRPr lang="zh-CN" altLang="en-US" sz="1600" dirty="0"/>
          </a:p>
        </p:txBody>
      </p:sp>
      <p:sp>
        <p:nvSpPr>
          <p:cNvPr id="12" name="Text 4"/>
          <p:cNvSpPr/>
          <p:nvPr>
            <p:custDataLst>
              <p:tags r:id="rId11"/>
            </p:custDataLst>
          </p:nvPr>
        </p:nvSpPr>
        <p:spPr>
          <a:xfrm>
            <a:off x="1395095" y="3300095"/>
            <a:ext cx="7795260" cy="363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豁达的一面</a:t>
            </a:r>
            <a:endParaRPr lang="en-US" sz="1600" dirty="0"/>
          </a:p>
        </p:txBody>
      </p:sp>
      <p:sp>
        <p:nvSpPr>
          <p:cNvPr id="13" name="Text 5"/>
          <p:cNvSpPr/>
          <p:nvPr>
            <p:custDataLst>
              <p:tags r:id="rId12"/>
            </p:custDataLst>
          </p:nvPr>
        </p:nvSpPr>
        <p:spPr>
          <a:xfrm>
            <a:off x="3161665" y="5382260"/>
            <a:ext cx="7795260" cy="1064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600" dirty="0"/>
              <a:t>坏处是，一旦受挫，强度会特别大，因为她会想不通，并且死扛到底，以至于问题愈发严重。一旦冲突，冲突会特别大，没有迂回的余地，总是要拼个你死我活。</a:t>
            </a:r>
            <a:endParaRPr lang="zh-CN" altLang="en-US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600" dirty="0"/>
              <a:t>劲上来后特别吓人</a:t>
            </a:r>
            <a:endParaRPr lang="zh-CN" altLang="en-US" sz="1600" dirty="0"/>
          </a:p>
        </p:txBody>
      </p:sp>
      <p:sp>
        <p:nvSpPr>
          <p:cNvPr id="14" name="Text 6"/>
          <p:cNvSpPr/>
          <p:nvPr>
            <p:custDataLst>
              <p:tags r:id="rId13"/>
            </p:custDataLst>
          </p:nvPr>
        </p:nvSpPr>
        <p:spPr>
          <a:xfrm>
            <a:off x="3161665" y="5030470"/>
            <a:ext cx="7794625" cy="366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固执的一面</a:t>
            </a:r>
            <a:endParaRPr lang="zh-CN" altLang="en-US" sz="2000" dirty="0">
              <a:solidFill>
                <a:srgbClr val="0439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5" name="Image 6" descr="https://kimi-img.moonshot.cn/pub/slides/slides_tmpl/image/25-09-05-17:30:42-d2targlnfo2stf9djjmg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 l="275" r="275"/>
          <a:stretch>
            <a:fillRect/>
          </a:stretch>
        </p:blipFill>
        <p:spPr>
          <a:xfrm>
            <a:off x="2296795" y="1903095"/>
            <a:ext cx="688340" cy="691515"/>
          </a:xfrm>
          <a:prstGeom prst="rect">
            <a:avLst/>
          </a:prstGeom>
        </p:spPr>
      </p:pic>
      <p:sp>
        <p:nvSpPr>
          <p:cNvPr id="16" name="Text 7"/>
          <p:cNvSpPr/>
          <p:nvPr>
            <p:custDataLst>
              <p:tags r:id="rId16"/>
            </p:custDataLst>
          </p:nvPr>
        </p:nvSpPr>
        <p:spPr>
          <a:xfrm>
            <a:off x="2301240" y="199326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17" name="Image 7" descr="https://kimi-img.moonshot.cn/pub/slides/slides_tmpl/image/25-09-05-17:30:42-d2targlnfo2stf9djjmg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5"/>
          <a:srcRect l="275" r="275"/>
          <a:stretch>
            <a:fillRect/>
          </a:stretch>
        </p:blipFill>
        <p:spPr>
          <a:xfrm>
            <a:off x="9625330" y="3469005"/>
            <a:ext cx="688340" cy="691515"/>
          </a:xfrm>
          <a:prstGeom prst="rect">
            <a:avLst/>
          </a:prstGeom>
        </p:spPr>
      </p:pic>
      <p:sp>
        <p:nvSpPr>
          <p:cNvPr id="18" name="Text 8"/>
          <p:cNvSpPr/>
          <p:nvPr>
            <p:custDataLst>
              <p:tags r:id="rId18"/>
            </p:custDataLst>
          </p:nvPr>
        </p:nvSpPr>
        <p:spPr>
          <a:xfrm>
            <a:off x="9629775" y="355917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pic>
        <p:nvPicPr>
          <p:cNvPr id="19" name="Image 8" descr="https://kimi-img.moonshot.cn/pub/slides/slides_tmpl/image/25-09-05-17:30:42-d2targlnfo2stf9djjmg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5"/>
          <a:srcRect l="275" r="275"/>
          <a:stretch>
            <a:fillRect/>
          </a:stretch>
        </p:blipFill>
        <p:spPr>
          <a:xfrm>
            <a:off x="2210435" y="5386705"/>
            <a:ext cx="688340" cy="691515"/>
          </a:xfrm>
          <a:prstGeom prst="rect">
            <a:avLst/>
          </a:prstGeom>
        </p:spPr>
      </p:pic>
      <p:sp>
        <p:nvSpPr>
          <p:cNvPr id="20" name="Text 9"/>
          <p:cNvSpPr/>
          <p:nvPr>
            <p:custDataLst>
              <p:tags r:id="rId20"/>
            </p:custDataLst>
          </p:nvPr>
        </p:nvSpPr>
        <p:spPr>
          <a:xfrm>
            <a:off x="2214880" y="547687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1-d2targdnfo2stf9djjj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1150"/>
            <a:ext cx="6649085" cy="26752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1535" y="1725930"/>
            <a:ext cx="813752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困难型孩子的潜在挑战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59485" y="3072130"/>
            <a:ext cx="5620385" cy="5962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</a:t>
            </a: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挑战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58850" y="3683635"/>
            <a:ext cx="5227955" cy="2066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因为好强，所以，其注意力如果放在学业上，学习成绩一般会相当不错，</a:t>
            </a: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但非要搞第一，非要搞赢，也会让她注意力过度放在学业</a:t>
            </a:r>
            <a:r>
              <a:rPr lang="en-US" altLang="zh-CN" sz="1600" dirty="0"/>
              <a:t>(</a:t>
            </a:r>
            <a:r>
              <a:rPr lang="zh-CN" altLang="en-US" sz="1600" dirty="0"/>
              <a:t>不能输了别人上</a:t>
            </a:r>
            <a:r>
              <a:rPr lang="en-US" altLang="zh-CN" sz="1600" dirty="0"/>
              <a:t>)</a:t>
            </a:r>
            <a:endParaRPr lang="en-US" altLang="zh-CN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而赢，搞赢，也会让他们强化他们的倔强</a:t>
            </a:r>
            <a:r>
              <a:rPr lang="en-US" altLang="zh-CN" sz="1600" dirty="0"/>
              <a:t>,</a:t>
            </a:r>
            <a:endParaRPr lang="en-US" altLang="zh-CN" sz="1600" dirty="0"/>
          </a:p>
        </p:txBody>
      </p:sp>
      <p:sp>
        <p:nvSpPr>
          <p:cNvPr id="6" name="Shape 3"/>
          <p:cNvSpPr/>
          <p:nvPr/>
        </p:nvSpPr>
        <p:spPr>
          <a:xfrm>
            <a:off x="9318625" y="6332855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3" name="Image 1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4" name="Image 2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15" name="Image 3" descr="https://kimi-img.moonshot.cn/pub/slides/slides_tmpl/image/25-09-05-17:30:41-d2targdnfo2stf9djjk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733790" y="2357755"/>
            <a:ext cx="5222875" cy="509905"/>
          </a:xfrm>
          <a:prstGeom prst="rect">
            <a:avLst/>
          </a:prstGeom>
        </p:spPr>
      </p:pic>
      <p:pic>
        <p:nvPicPr>
          <p:cNvPr id="16" name="Image 0" descr="https://kimi-img.moonshot.cn/pub/slides/slides_tmpl/image/25-09-05-17:30:41-d2targdnfo2stf9djjj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575" y="3985260"/>
            <a:ext cx="5143500" cy="2872740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>
            <a:off x="6648450" y="4141470"/>
            <a:ext cx="4441825" cy="46101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婚恋挑战</a:t>
            </a:r>
            <a:endParaRPr lang="en-US" sz="1600" dirty="0"/>
          </a:p>
        </p:txBody>
      </p:sp>
      <p:sp>
        <p:nvSpPr>
          <p:cNvPr id="18" name="Text 2"/>
          <p:cNvSpPr/>
          <p:nvPr/>
        </p:nvSpPr>
        <p:spPr>
          <a:xfrm>
            <a:off x="6642735" y="4694555"/>
            <a:ext cx="4447540" cy="173609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成年后，要么遇到包容、迁就她的伴侣，否则很难幸福</a:t>
            </a:r>
            <a:endParaRPr lang="zh-CN" alt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因为执拗，不回头，没有得商量，容易死倔住，无法回头，无法商量，对方必须要妥协、退让。不然就过不去。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3-d2targtnfo2stf9djjrg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0:41-d2targdnfo2stf9djjj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0:41-d2targdnfo2stf9djjk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特质对比与总结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3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1-d2targdnfo2stf9djjj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1757045"/>
            <a:ext cx="12192000" cy="428688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0:41-d2targdnfo2stf9djjk0.jp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rot="5400000">
            <a:off x="7031990" y="885190"/>
            <a:ext cx="4288155" cy="603123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75311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三类孩子先天特质核心特征对比</a:t>
            </a:r>
            <a:endParaRPr lang="en-US" sz="1600" dirty="0"/>
          </a:p>
        </p:txBody>
      </p:sp>
      <p:sp>
        <p:nvSpPr>
          <p:cNvPr id="5" name="Text 1"/>
          <p:cNvSpPr/>
          <p:nvPr>
            <p:custDataLst>
              <p:tags r:id="rId5"/>
            </p:custDataLst>
          </p:nvPr>
        </p:nvSpPr>
        <p:spPr>
          <a:xfrm>
            <a:off x="581660" y="2120900"/>
            <a:ext cx="5175250" cy="401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先天敏感程度</a:t>
            </a:r>
            <a:endParaRPr lang="en-US" sz="1600" dirty="0"/>
          </a:p>
        </p:txBody>
      </p:sp>
      <p:sp>
        <p:nvSpPr>
          <p:cNvPr id="6" name="Text 2"/>
          <p:cNvSpPr/>
          <p:nvPr>
            <p:custDataLst>
              <p:tags r:id="rId6"/>
            </p:custDataLst>
          </p:nvPr>
        </p:nvSpPr>
        <p:spPr>
          <a:xfrm>
            <a:off x="581660" y="2487930"/>
            <a:ext cx="5175885" cy="1483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高敏型敏感程度高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钝</a:t>
            </a: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感型低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困难型无明显敏感特征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三者在感知环境变化速度上有显著差异。</a:t>
            </a:r>
            <a:endParaRPr lang="en-US" sz="1600" dirty="0"/>
          </a:p>
        </p:txBody>
      </p:sp>
      <p:sp>
        <p:nvSpPr>
          <p:cNvPr id="7" name="Text 3"/>
          <p:cNvSpPr/>
          <p:nvPr>
            <p:custDataLst>
              <p:tags r:id="rId7"/>
            </p:custDataLst>
          </p:nvPr>
        </p:nvSpPr>
        <p:spPr>
          <a:xfrm>
            <a:off x="6533515" y="2120900"/>
            <a:ext cx="5175250" cy="401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成长核心表现</a:t>
            </a:r>
            <a:endParaRPr lang="en-US" sz="1600" dirty="0"/>
          </a:p>
        </p:txBody>
      </p:sp>
      <p:sp>
        <p:nvSpPr>
          <p:cNvPr id="8" name="Text 4"/>
          <p:cNvSpPr/>
          <p:nvPr>
            <p:custDataLst>
              <p:tags r:id="rId8"/>
            </p:custDataLst>
          </p:nvPr>
        </p:nvSpPr>
        <p:spPr>
          <a:xfrm>
            <a:off x="6533515" y="2487930"/>
            <a:ext cx="5176520" cy="14839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高敏型省心、主导父母；</a:t>
            </a:r>
            <a:endParaRPr lang="en-US" sz="14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钝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感型天使宝宝、易受挫；</a:t>
            </a:r>
            <a:endParaRPr lang="en-US" sz="14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困难型执拗、情绪难控</a:t>
            </a:r>
            <a:endParaRPr lang="en-US" sz="14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各有典型成长表现。</a:t>
            </a:r>
            <a:endParaRPr lang="en-US" sz="1600" dirty="0"/>
          </a:p>
        </p:txBody>
      </p:sp>
      <p:sp>
        <p:nvSpPr>
          <p:cNvPr id="9" name="Text 5"/>
          <p:cNvSpPr/>
          <p:nvPr>
            <p:custDataLst>
              <p:tags r:id="rId9"/>
            </p:custDataLst>
          </p:nvPr>
        </p:nvSpPr>
        <p:spPr>
          <a:xfrm>
            <a:off x="581660" y="4140835"/>
            <a:ext cx="5175250" cy="401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对父母互动反应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10"/>
            </p:custDataLst>
          </p:nvPr>
        </p:nvSpPr>
        <p:spPr>
          <a:xfrm>
            <a:off x="581660" y="4496435"/>
            <a:ext cx="5175885" cy="1763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高敏型早回应、善观察；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钝</a:t>
            </a: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感型无观察、难理解；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困难型顺毛摸则配合，逆则对抗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反应各不相同。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11"/>
            </p:custDataLst>
          </p:nvPr>
        </p:nvSpPr>
        <p:spPr>
          <a:xfrm>
            <a:off x="6533515" y="4140835"/>
            <a:ext cx="5175250" cy="4025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潜在核心风险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12"/>
            </p:custDataLst>
          </p:nvPr>
        </p:nvSpPr>
        <p:spPr>
          <a:xfrm>
            <a:off x="6533515" y="4496435"/>
            <a:ext cx="5176520" cy="1763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高敏型</a:t>
            </a:r>
            <a:r>
              <a:rPr lang="zh-CN" alt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容易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心理疾病多、动力弱；</a:t>
            </a:r>
            <a:endParaRPr lang="en-US" sz="14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顿感型适应不良、自卑；</a:t>
            </a:r>
            <a:endParaRPr lang="en-US" sz="14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困难型</a:t>
            </a:r>
            <a:r>
              <a:rPr lang="zh-CN" alt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容易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受挫严重、冲突激烈</a:t>
            </a:r>
            <a:endParaRPr lang="en-US" sz="14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都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需针对性关注。</a:t>
            </a:r>
            <a:endParaRPr lang="en-US" sz="1600" dirty="0"/>
          </a:p>
        </p:txBody>
      </p:sp>
      <p:pic>
        <p:nvPicPr>
          <p:cNvPr id="13" name="Image 2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flipV="1">
            <a:off x="10751820" y="999490"/>
            <a:ext cx="762000" cy="76200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flipV="1">
            <a:off x="10751820" y="1130300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81660" y="75311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三类孩子先天特质核心特征对比</a:t>
            </a:r>
            <a:endParaRPr lang="en-US" sz="1600" dirty="0"/>
          </a:p>
        </p:txBody>
      </p:sp>
      <p:pic>
        <p:nvPicPr>
          <p:cNvPr id="13" name="Image 2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999490"/>
            <a:ext cx="762000" cy="76200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1130300"/>
            <a:ext cx="762000" cy="76200"/>
          </a:xfrm>
          <a:prstGeom prst="rect">
            <a:avLst/>
          </a:prstGeom>
        </p:spPr>
      </p:pic>
      <p:graphicFrame>
        <p:nvGraphicFramePr>
          <p:cNvPr id="15" name="表格 14"/>
          <p:cNvGraphicFramePr/>
          <p:nvPr/>
        </p:nvGraphicFramePr>
        <p:xfrm>
          <a:off x="756285" y="1884045"/>
          <a:ext cx="10515600" cy="3792220"/>
        </p:xfrm>
        <a:graphic>
          <a:graphicData uri="http://schemas.openxmlformats.org/drawingml/2006/table">
            <a:tbl>
              <a:tblPr/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558165">
                <a:tc>
                  <a:txBody>
                    <a:bodyPr/>
                    <a:p>
                      <a:pPr marL="0" indent="0" algn="ctr">
                        <a:lnSpc>
                          <a:spcPct val="2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特质类型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先天敏感程度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对父母互动反应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成长核心表现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潜在核心风险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典型人物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</a:tr>
              <a:tr h="959485">
                <a:tc>
                  <a:txBody>
                    <a:bodyPr/>
                    <a:p>
                      <a:pPr marL="0" indent="0" algn="ctr">
                        <a:lnSpc>
                          <a:spcPct val="3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高敏型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高（快速感知环境变化）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早回应、跟指令快、善观察捕捉心思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省心、主导父母、在意他人、学习适应快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心理疾病多、动力弱、评价系统缺失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李白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87120">
                <a:tc>
                  <a:txBody>
                    <a:bodyPr/>
                    <a:p>
                      <a:pPr marL="0" indent="0" algn="ctr">
                        <a:lnSpc>
                          <a:spcPct val="3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顿感型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低（缓慢感知环境变化）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无观察、难理解意图、无捕捉心思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天使宝宝、易受挫、兴趣驱动、社会学习弱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适应不良、自卑、学习需引导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高适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87450">
                <a:tc>
                  <a:txBody>
                    <a:bodyPr/>
                    <a:p>
                      <a:pPr marL="0" indent="0" algn="ctr">
                        <a:lnSpc>
                          <a:spcPct val="3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困难型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（核心为倔强）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顺毛摸则配合、逆则对抗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执拗、情绪难控、大气豁达、好强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受挫严重、冲突激烈、婚恋需包容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11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81660" y="75311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三类孩子先天特质核心特征对比</a:t>
            </a:r>
            <a:endParaRPr lang="en-US" sz="1600" dirty="0"/>
          </a:p>
        </p:txBody>
      </p:sp>
      <p:pic>
        <p:nvPicPr>
          <p:cNvPr id="13" name="Image 2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999490"/>
            <a:ext cx="762000" cy="76200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1130300"/>
            <a:ext cx="762000" cy="76200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1494155" y="1601470"/>
          <a:ext cx="8967470" cy="4718685"/>
        </p:xfrm>
        <a:graphic>
          <a:graphicData uri="http://schemas.openxmlformats.org/drawingml/2006/table">
            <a:tbl>
              <a:tblPr/>
              <a:tblGrid>
                <a:gridCol w="1904365"/>
                <a:gridCol w="1903095"/>
                <a:gridCol w="2055495"/>
                <a:gridCol w="3104515"/>
              </a:tblGrid>
              <a:tr h="302260"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孩子特质</a:t>
                      </a:r>
                      <a:endParaRPr lang="zh-CN" altLang="en-US" sz="800" b="0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父母特质</a:t>
                      </a:r>
                      <a:endParaRPr lang="zh-CN" altLang="en-US" sz="8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互动特点</a:t>
                      </a:r>
                      <a:endParaRPr lang="zh-CN" altLang="en-US" sz="8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人物</a:t>
                      </a:r>
                      <a:endParaRPr lang="zh-CN" altLang="en-US" sz="8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</a:tr>
              <a:tr h="245745">
                <a:tc rowSpan="9"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精娃</a:t>
                      </a:r>
                      <a:endParaRPr lang="zh-CN" altLang="en-US" sz="800" b="0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精的父母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互斗心思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LQ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（没空管理）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47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管不了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过去纵容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YJ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6"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钝感父母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3030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弱型</a:t>
                      </a:r>
                      <a:endParaRPr lang="zh-CN" altLang="en-US" sz="800" b="0" i="0">
                        <a:solidFill>
                          <a:srgbClr val="3030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LB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47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3030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往外归因型</a:t>
                      </a:r>
                      <a:endParaRPr lang="zh-CN" altLang="en-US" sz="800" b="0" i="0">
                        <a:solidFill>
                          <a:srgbClr val="3030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YH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3030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强型</a:t>
                      </a:r>
                      <a:endParaRPr lang="zh-CN" altLang="en-US" sz="800" b="0" i="0">
                        <a:solidFill>
                          <a:srgbClr val="3030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ZH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3030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焦虑型</a:t>
                      </a:r>
                      <a:endParaRPr lang="zh-CN" altLang="en-US" sz="800" b="0" i="0">
                        <a:solidFill>
                          <a:srgbClr val="3030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47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内疚型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HB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包办型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 rowSpan="9"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朴娃</a:t>
                      </a:r>
                      <a:endParaRPr lang="zh-CN" altLang="en-US" sz="800" b="0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精的父母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3030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过去纵容</a:t>
                      </a:r>
                      <a:endParaRPr lang="zh-CN" altLang="en-US" sz="800" b="0" i="0">
                        <a:solidFill>
                          <a:srgbClr val="3030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LY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47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3030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过去严格</a:t>
                      </a:r>
                      <a:endParaRPr lang="zh-CN" altLang="en-US" sz="800" b="0" i="0">
                        <a:solidFill>
                          <a:srgbClr val="3030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38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3030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过去忽略</a:t>
                      </a:r>
                      <a:endParaRPr lang="zh-CN" altLang="en-US" sz="800" b="0" i="0">
                        <a:solidFill>
                          <a:srgbClr val="3030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11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6"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钝感的父母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3030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过去纵容</a:t>
                      </a:r>
                      <a:endParaRPr lang="zh-CN" altLang="en-US" sz="800" b="0" i="0">
                        <a:solidFill>
                          <a:srgbClr val="3030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YP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11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放弃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WY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过去没有建立过感情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PP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过去忽略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47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互相以为很厉害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父母以为自己很聪明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孩子也以为自己很聪明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0:43-d2targtnfo2stf9djjrg.jpg"/>
          <p:cNvPicPr>
            <a:picLocks noChangeAspect="1"/>
          </p:cNvPicPr>
          <p:nvPr/>
        </p:nvPicPr>
        <p:blipFill>
          <a:blip r:embed="rId2"/>
          <a:srcRect t="104" b="104"/>
          <a:stretch>
            <a:fillRect/>
          </a:stretch>
        </p:blipFill>
        <p:spPr>
          <a:xfrm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9100" y="2440940"/>
            <a:ext cx="773557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419100" y="2440940"/>
            <a:ext cx="7735570" cy="1804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Text 5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2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 YOU</a:t>
            </a:r>
            <a:r>
              <a:rPr lang="en-US" sz="32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32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FOR READING</a:t>
            </a:r>
            <a:r>
              <a:rPr lang="en-US" sz="32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！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主讲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人：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姚一敏</a:t>
            </a:r>
            <a:endParaRPr lang="zh-CN" altLang="en-US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240270" y="6099810"/>
            <a:ext cx="3091815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日期：2025/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9" name="Image 1" descr="https://kimi-img.moonshot.cn/pub/slides/slides_tmpl/image/25-09-05-17:30:41-d2targdnfo2stf9djjk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20" name="Image 2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21" name="Image 3" descr="https://kimi-img.moonshot.cn/pub/slides/slides_tmpl/image/25-09-05-17:30:41-d2targdnfo2stf9djjj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6.05,&quot;left&quot;:333.55,&quot;top&quot;:91.35,&quot;width&quot;:565.3}"/>
</p:tagLst>
</file>

<file path=ppt/tags/tag2.xml><?xml version="1.0" encoding="utf-8"?>
<p:tagLst xmlns:p="http://schemas.openxmlformats.org/presentationml/2006/main">
  <p:tag name="KSO_WM_DIAGRAM_VIRTUALLY_FRAME" val="{&quot;height&quot;:376.05,&quot;left&quot;:333.55,&quot;top&quot;:91.35,&quot;width&quot;:565.3}"/>
</p:tagLst>
</file>

<file path=ppt/tags/tag3.xml><?xml version="1.0" encoding="utf-8"?>
<p:tagLst xmlns:p="http://schemas.openxmlformats.org/presentationml/2006/main">
  <p:tag name="KSO_WM_DIAGRAM_VIRTUALLY_FRAME" val="{&quot;height&quot;:376.05,&quot;left&quot;:333.55,&quot;top&quot;:91.35,&quot;width&quot;:565.3}"/>
</p:tagLst>
</file>

<file path=ppt/tags/tag4.xml><?xml version="1.0" encoding="utf-8"?>
<p:tagLst xmlns:p="http://schemas.openxmlformats.org/presentationml/2006/main">
  <p:tag name="KSO_WM_DIAGRAM_VIRTUALLY_FRAME" val="{&quot;height&quot;:376.05,&quot;left&quot;:333.55,&quot;top&quot;:91.35,&quot;width&quot;:565.3}"/>
</p:tagLst>
</file>

<file path=ppt/tags/tag5.xml><?xml version="1.0" encoding="utf-8"?>
<p:tagLst xmlns:p="http://schemas.openxmlformats.org/presentationml/2006/main">
  <p:tag name="KSO_WM_DIAGRAM_VIRTUALLY_FRAME" val="{&quot;height&quot;:376.05,&quot;left&quot;:333.55,&quot;top&quot;:91.35,&quot;width&quot;:565.3}"/>
</p:tagLst>
</file>

<file path=ppt/tags/tag6.xml><?xml version="1.0" encoding="utf-8"?>
<p:tagLst xmlns:p="http://schemas.openxmlformats.org/presentationml/2006/main">
  <p:tag name="KSO_WM_DIAGRAM_VIRTUALLY_FRAME" val="{&quot;height&quot;:376.05,&quot;left&quot;:333.55,&quot;top&quot;:91.35,&quot;width&quot;:565.3}"/>
</p:tagLst>
</file>

<file path=ppt/tags/tag7.xml><?xml version="1.0" encoding="utf-8"?>
<p:tagLst xmlns:p="http://schemas.openxmlformats.org/presentationml/2006/main">
  <p:tag name="KSO_WM_DIAGRAM_VIRTUALLY_FRAME" val="{&quot;height&quot;:376.05,&quot;left&quot;:333.55,&quot;top&quot;:91.35,&quot;width&quot;:565.3}"/>
</p:tagLst>
</file>

<file path=ppt/tags/tag8.xml><?xml version="1.0" encoding="utf-8"?>
<p:tagLst xmlns:p="http://schemas.openxmlformats.org/presentationml/2006/main">
  <p:tag name="KSO_WM_DIAGRAM_VIRTUALLY_FRAME" val="{&quot;height&quot;:376.05,&quot;left&quot;:333.55,&quot;top&quot;:91.35,&quot;width&quot;:565.3}"/>
</p:tagLst>
</file>

<file path=ppt/tags/tag9.xml><?xml version="1.0" encoding="utf-8"?>
<p:tagLst xmlns:p="http://schemas.openxmlformats.org/presentationml/2006/main">
  <p:tag name="KSO_WM_DIAGRAM_VIRTUALLY_FRAME" val="{&quot;height&quot;:376.05,&quot;left&quot;:333.55,&quot;top&quot;:91.35,&quot;width&quot;:565.3}"/>
</p:tagLst>
</file>

<file path=ppt/tags/tag10.xml><?xml version="1.0" encoding="utf-8"?>
<p:tagLst xmlns:p="http://schemas.openxmlformats.org/presentationml/2006/main">
  <p:tag name="KSO_WM_DIAGRAM_VIRTUALLY_FRAME" val="{&quot;height&quot;:376.05,&quot;left&quot;:333.55,&quot;top&quot;:91.35,&quot;width&quot;:565.3}"/>
</p:tagLst>
</file>

<file path=ppt/tags/tag11.xml><?xml version="1.0" encoding="utf-8"?>
<p:tagLst xmlns:p="http://schemas.openxmlformats.org/presentationml/2006/main">
  <p:tag name="KSO_WM_DIAGRAM_VIRTUALLY_FRAME" val="{&quot;height&quot;:376.05,&quot;left&quot;:333.55,&quot;top&quot;:91.35,&quot;width&quot;:565.3}"/>
</p:tagLst>
</file>

<file path=ppt/tags/tag12.xml><?xml version="1.0" encoding="utf-8"?>
<p:tagLst xmlns:p="http://schemas.openxmlformats.org/presentationml/2006/main">
  <p:tag name="KSO_WM_DIAGRAM_VIRTUALLY_FRAME" val="{&quot;height&quot;:376.05,&quot;left&quot;:333.55,&quot;top&quot;:91.35,&quot;width&quot;:565.3}"/>
</p:tagLst>
</file>

<file path=ppt/tags/tag13.xml><?xml version="1.0" encoding="utf-8"?>
<p:tagLst xmlns:p="http://schemas.openxmlformats.org/presentationml/2006/main">
  <p:tag name="KSO_WM_DIAGRAM_VIRTUALLY_FRAME" val="{&quot;height&quot;:376.05,&quot;left&quot;:333.55,&quot;top&quot;:91.35,&quot;width&quot;:565.3}"/>
</p:tagLst>
</file>

<file path=ppt/tags/tag14.xml><?xml version="1.0" encoding="utf-8"?>
<p:tagLst xmlns:p="http://schemas.openxmlformats.org/presentationml/2006/main">
  <p:tag name="KSO_WM_DIAGRAM_VIRTUALLY_FRAME" val="{&quot;height&quot;:376.05,&quot;left&quot;:333.55,&quot;top&quot;:91.35,&quot;width&quot;:565.3}"/>
</p:tagLst>
</file>

<file path=ppt/tags/tag15.xml><?xml version="1.0" encoding="utf-8"?>
<p:tagLst xmlns:p="http://schemas.openxmlformats.org/presentationml/2006/main">
  <p:tag name="KSO_WM_DIAGRAM_VIRTUALLY_FRAME" val="{&quot;height&quot;:376.05,&quot;left&quot;:333.55,&quot;top&quot;:91.35,&quot;width&quot;:565.3}"/>
</p:tagLst>
</file>

<file path=ppt/tags/tag16.xml><?xml version="1.0" encoding="utf-8"?>
<p:tagLst xmlns:p="http://schemas.openxmlformats.org/presentationml/2006/main">
  <p:tag name="KSO_WM_DIAGRAM_VIRTUALLY_FRAME" val="{&quot;height&quot;:376.05,&quot;left&quot;:333.55,&quot;top&quot;:91.35,&quot;width&quot;:565.3}"/>
</p:tagLst>
</file>

<file path=ppt/tags/tag17.xml><?xml version="1.0" encoding="utf-8"?>
<p:tagLst xmlns:p="http://schemas.openxmlformats.org/presentationml/2006/main">
  <p:tag name="KSO_WM_DIAGRAM_VIRTUALLY_FRAME" val="{&quot;height&quot;:376.05,&quot;left&quot;:333.55,&quot;top&quot;:91.35,&quot;width&quot;:565.3}"/>
</p:tagLst>
</file>

<file path=ppt/tags/tag18.xml><?xml version="1.0" encoding="utf-8"?>
<p:tagLst xmlns:p="http://schemas.openxmlformats.org/presentationml/2006/main">
  <p:tag name="KSO_WM_DIAGRAM_VIRTUALLY_FRAME" val="{&quot;height&quot;:376.05,&quot;left&quot;:333.55,&quot;top&quot;:91.35,&quot;width&quot;:565.3}"/>
</p:tagLst>
</file>

<file path=ppt/tags/tag19.xml><?xml version="1.0" encoding="utf-8"?>
<p:tagLst xmlns:p="http://schemas.openxmlformats.org/presentationml/2006/main">
  <p:tag name="KSO_WM_DIAGRAM_VIRTUALLY_FRAME" val="{&quot;height&quot;:302.2,&quot;left&quot;:176.9,&quot;top&quot;:180.2,&quot;width&quot;:719.85}"/>
</p:tagLst>
</file>

<file path=ppt/tags/tag20.xml><?xml version="1.0" encoding="utf-8"?>
<p:tagLst xmlns:p="http://schemas.openxmlformats.org/presentationml/2006/main">
  <p:tag name="KSO_WM_DIAGRAM_VIRTUALLY_FRAME" val="{&quot;height&quot;:302.2,&quot;left&quot;:176.9,&quot;top&quot;:180.2,&quot;width&quot;:719.85}"/>
</p:tagLst>
</file>

<file path=ppt/tags/tag21.xml><?xml version="1.0" encoding="utf-8"?>
<p:tagLst xmlns:p="http://schemas.openxmlformats.org/presentationml/2006/main">
  <p:tag name="KSO_WM_DIAGRAM_VIRTUALLY_FRAME" val="{&quot;height&quot;:302.2,&quot;left&quot;:176.9,&quot;top&quot;:180.2,&quot;width&quot;:719.85}"/>
</p:tagLst>
</file>

<file path=ppt/tags/tag22.xml><?xml version="1.0" encoding="utf-8"?>
<p:tagLst xmlns:p="http://schemas.openxmlformats.org/presentationml/2006/main">
  <p:tag name="KSO_WM_DIAGRAM_VIRTUALLY_FRAME" val="{&quot;height&quot;:302.2,&quot;left&quot;:176.9,&quot;top&quot;:180.2,&quot;width&quot;:719.85}"/>
</p:tagLst>
</file>

<file path=ppt/tags/tag23.xml><?xml version="1.0" encoding="utf-8"?>
<p:tagLst xmlns:p="http://schemas.openxmlformats.org/presentationml/2006/main">
  <p:tag name="KSO_WM_DIAGRAM_VIRTUALLY_FRAME" val="{&quot;height&quot;:302.2,&quot;left&quot;:176.9,&quot;top&quot;:180.2,&quot;width&quot;:719.85}"/>
</p:tagLst>
</file>

<file path=ppt/tags/tag24.xml><?xml version="1.0" encoding="utf-8"?>
<p:tagLst xmlns:p="http://schemas.openxmlformats.org/presentationml/2006/main">
  <p:tag name="KSO_WM_DIAGRAM_VIRTUALLY_FRAME" val="{&quot;height&quot;:302.2,&quot;left&quot;:176.9,&quot;top&quot;:180.2,&quot;width&quot;:719.85}"/>
</p:tagLst>
</file>

<file path=ppt/tags/tag25.xml><?xml version="1.0" encoding="utf-8"?>
<p:tagLst xmlns:p="http://schemas.openxmlformats.org/presentationml/2006/main">
  <p:tag name="KSO_WM_DIAGRAM_VIRTUALLY_FRAME" val="{&quot;height&quot;:302.2,&quot;left&quot;:176.9,&quot;top&quot;:180.2,&quot;width&quot;:719.85}"/>
</p:tagLst>
</file>

<file path=ppt/tags/tag26.xml><?xml version="1.0" encoding="utf-8"?>
<p:tagLst xmlns:p="http://schemas.openxmlformats.org/presentationml/2006/main">
  <p:tag name="KSO_WM_DIAGRAM_VIRTUALLY_FRAME" val="{&quot;height&quot;:302.2,&quot;left&quot;:176.9,&quot;top&quot;:180.2,&quot;width&quot;:719.85}"/>
</p:tagLst>
</file>

<file path=ppt/tags/tag27.xml><?xml version="1.0" encoding="utf-8"?>
<p:tagLst xmlns:p="http://schemas.openxmlformats.org/presentationml/2006/main">
  <p:tag name="KSO_WM_DIAGRAM_VIRTUALLY_FRAME" val="{&quot;height&quot;:308.75,&quot;left&quot;:88.8,&quot;top&quot;:164.25,&quot;width&quot;:791.65}"/>
</p:tagLst>
</file>

<file path=ppt/tags/tag28.xml><?xml version="1.0" encoding="utf-8"?>
<p:tagLst xmlns:p="http://schemas.openxmlformats.org/presentationml/2006/main">
  <p:tag name="KSO_WM_DIAGRAM_VIRTUALLY_FRAME" val="{&quot;height&quot;:308.75,&quot;left&quot;:88.8,&quot;top&quot;:164.25,&quot;width&quot;:791.65}"/>
</p:tagLst>
</file>

<file path=ppt/tags/tag29.xml><?xml version="1.0" encoding="utf-8"?>
<p:tagLst xmlns:p="http://schemas.openxmlformats.org/presentationml/2006/main">
  <p:tag name="KSO_WM_DIAGRAM_VIRTUALLY_FRAME" val="{&quot;height&quot;:308.75,&quot;left&quot;:88.8,&quot;top&quot;:164.25,&quot;width&quot;:791.65}"/>
</p:tagLst>
</file>

<file path=ppt/tags/tag30.xml><?xml version="1.0" encoding="utf-8"?>
<p:tagLst xmlns:p="http://schemas.openxmlformats.org/presentationml/2006/main">
  <p:tag name="KSO_WM_DIAGRAM_VIRTUALLY_FRAME" val="{&quot;height&quot;:308.75,&quot;left&quot;:88.8,&quot;top&quot;:164.25,&quot;width&quot;:791.65}"/>
</p:tagLst>
</file>

<file path=ppt/tags/tag31.xml><?xml version="1.0" encoding="utf-8"?>
<p:tagLst xmlns:p="http://schemas.openxmlformats.org/presentationml/2006/main">
  <p:tag name="KSO_WM_DIAGRAM_VIRTUALLY_FRAME" val="{&quot;height&quot;:308.75,&quot;left&quot;:88.8,&quot;top&quot;:164.25,&quot;width&quot;:791.65}"/>
</p:tagLst>
</file>

<file path=ppt/tags/tag32.xml><?xml version="1.0" encoding="utf-8"?>
<p:tagLst xmlns:p="http://schemas.openxmlformats.org/presentationml/2006/main">
  <p:tag name="KSO_WM_DIAGRAM_VIRTUALLY_FRAME" val="{&quot;height&quot;:308.75,&quot;left&quot;:88.8,&quot;top&quot;:164.25,&quot;width&quot;:791.65}"/>
</p:tagLst>
</file>

<file path=ppt/tags/tag33.xml><?xml version="1.0" encoding="utf-8"?>
<p:tagLst xmlns:p="http://schemas.openxmlformats.org/presentationml/2006/main">
  <p:tag name="KSO_WM_DIAGRAM_VIRTUALLY_FRAME" val="{&quot;height&quot;:308.75,&quot;left&quot;:88.8,&quot;top&quot;:164.25,&quot;width&quot;:791.65}"/>
</p:tagLst>
</file>

<file path=ppt/tags/tag34.xml><?xml version="1.0" encoding="utf-8"?>
<p:tagLst xmlns:p="http://schemas.openxmlformats.org/presentationml/2006/main">
  <p:tag name="KSO_WM_DIAGRAM_VIRTUALLY_FRAME" val="{&quot;height&quot;:308.75,&quot;left&quot;:88.8,&quot;top&quot;:164.25,&quot;width&quot;:791.65}"/>
</p:tagLst>
</file>

<file path=ppt/tags/tag35.xml><?xml version="1.0" encoding="utf-8"?>
<p:tagLst xmlns:p="http://schemas.openxmlformats.org/presentationml/2006/main">
  <p:tag name="KSO_WM_DIAGRAM_VIRTUALLY_FRAME" val="{&quot;height&quot;:321.4,&quot;left&quot;:135.65,&quot;top&quot;:155.65,&quot;width&quot;:691.35}"/>
</p:tagLst>
</file>

<file path=ppt/tags/tag36.xml><?xml version="1.0" encoding="utf-8"?>
<p:tagLst xmlns:p="http://schemas.openxmlformats.org/presentationml/2006/main">
  <p:tag name="KSO_WM_DIAGRAM_VIRTUALLY_FRAME" val="{&quot;height&quot;:321.4,&quot;left&quot;:135.65,&quot;top&quot;:155.65,&quot;width&quot;:691.35}"/>
</p:tagLst>
</file>

<file path=ppt/tags/tag37.xml><?xml version="1.0" encoding="utf-8"?>
<p:tagLst xmlns:p="http://schemas.openxmlformats.org/presentationml/2006/main">
  <p:tag name="KSO_WM_DIAGRAM_VIRTUALLY_FRAME" val="{&quot;height&quot;:321.4,&quot;left&quot;:135.65,&quot;top&quot;:155.65,&quot;width&quot;:691.35}"/>
</p:tagLst>
</file>

<file path=ppt/tags/tag38.xml><?xml version="1.0" encoding="utf-8"?>
<p:tagLst xmlns:p="http://schemas.openxmlformats.org/presentationml/2006/main">
  <p:tag name="KSO_WM_DIAGRAM_VIRTUALLY_FRAME" val="{&quot;height&quot;:321.4,&quot;left&quot;:135.65,&quot;top&quot;:155.65,&quot;width&quot;:691.35}"/>
</p:tagLst>
</file>

<file path=ppt/tags/tag39.xml><?xml version="1.0" encoding="utf-8"?>
<p:tagLst xmlns:p="http://schemas.openxmlformats.org/presentationml/2006/main">
  <p:tag name="KSO_WM_DIAGRAM_VIRTUALLY_FRAME" val="{&quot;height&quot;:321.4,&quot;left&quot;:135.65,&quot;top&quot;:155.65,&quot;width&quot;:691.35}"/>
</p:tagLst>
</file>

<file path=ppt/tags/tag40.xml><?xml version="1.0" encoding="utf-8"?>
<p:tagLst xmlns:p="http://schemas.openxmlformats.org/presentationml/2006/main">
  <p:tag name="KSO_WM_DIAGRAM_VIRTUALLY_FRAME" val="{&quot;height&quot;:321.4,&quot;left&quot;:135.65,&quot;top&quot;:155.65,&quot;width&quot;:691.35}"/>
</p:tagLst>
</file>

<file path=ppt/tags/tag41.xml><?xml version="1.0" encoding="utf-8"?>
<p:tagLst xmlns:p="http://schemas.openxmlformats.org/presentationml/2006/main">
  <p:tag name="KSO_WM_DIAGRAM_VIRTUALLY_FRAME" val="{&quot;height&quot;:474.7,&quot;left&quot;:52.8,&quot;top&quot;:43.75,&quot;width&quot;:860.7}"/>
</p:tagLst>
</file>

<file path=ppt/tags/tag42.xml><?xml version="1.0" encoding="utf-8"?>
<p:tagLst xmlns:p="http://schemas.openxmlformats.org/presentationml/2006/main">
  <p:tag name="KSO_WM_DIAGRAM_VIRTUALLY_FRAME" val="{&quot;height&quot;:474.7,&quot;left&quot;:52.8,&quot;top&quot;:43.75,&quot;width&quot;:860.7}"/>
</p:tagLst>
</file>

<file path=ppt/tags/tag43.xml><?xml version="1.0" encoding="utf-8"?>
<p:tagLst xmlns:p="http://schemas.openxmlformats.org/presentationml/2006/main">
  <p:tag name="KSO_WM_DIAGRAM_VIRTUALLY_FRAME" val="{&quot;height&quot;:474.7,&quot;left&quot;:52.8,&quot;top&quot;:43.75,&quot;width&quot;:860.7}"/>
</p:tagLst>
</file>

<file path=ppt/tags/tag44.xml><?xml version="1.0" encoding="utf-8"?>
<p:tagLst xmlns:p="http://schemas.openxmlformats.org/presentationml/2006/main">
  <p:tag name="KSO_WM_DIAGRAM_VIRTUALLY_FRAME" val="{&quot;height&quot;:474.7,&quot;left&quot;:52.8,&quot;top&quot;:43.75,&quot;width&quot;:860.7}"/>
</p:tagLst>
</file>

<file path=ppt/tags/tag45.xml><?xml version="1.0" encoding="utf-8"?>
<p:tagLst xmlns:p="http://schemas.openxmlformats.org/presentationml/2006/main">
  <p:tag name="KSO_WM_DIAGRAM_VIRTUALLY_FRAME" val="{&quot;height&quot;:474.7,&quot;left&quot;:52.8,&quot;top&quot;:43.75,&quot;width&quot;:860.7}"/>
</p:tagLst>
</file>

<file path=ppt/tags/tag46.xml><?xml version="1.0" encoding="utf-8"?>
<p:tagLst xmlns:p="http://schemas.openxmlformats.org/presentationml/2006/main">
  <p:tag name="KSO_WM_DIAGRAM_VIRTUALLY_FRAME" val="{&quot;height&quot;:474.7,&quot;left&quot;:52.8,&quot;top&quot;:43.75,&quot;width&quot;:860.7}"/>
</p:tagLst>
</file>

<file path=ppt/tags/tag47.xml><?xml version="1.0" encoding="utf-8"?>
<p:tagLst xmlns:p="http://schemas.openxmlformats.org/presentationml/2006/main">
  <p:tag name="KSO_WM_DIAGRAM_VIRTUALLY_FRAME" val="{&quot;height&quot;:474.7,&quot;left&quot;:52.8,&quot;top&quot;:43.75,&quot;width&quot;:860.7}"/>
</p:tagLst>
</file>

<file path=ppt/tags/tag48.xml><?xml version="1.0" encoding="utf-8"?>
<p:tagLst xmlns:p="http://schemas.openxmlformats.org/presentationml/2006/main">
  <p:tag name="KSO_WM_DIAGRAM_VIRTUALLY_FRAME" val="{&quot;height&quot;:474.7,&quot;left&quot;:52.8,&quot;top&quot;:43.75,&quot;width&quot;:860.7}"/>
</p:tagLst>
</file>

<file path=ppt/tags/tag49.xml><?xml version="1.0" encoding="utf-8"?>
<p:tagLst xmlns:p="http://schemas.openxmlformats.org/presentationml/2006/main">
  <p:tag name="KSO_WM_DIAGRAM_VIRTUALLY_FRAME" val="{&quot;height&quot;:474.7,&quot;left&quot;:52.8,&quot;top&quot;:43.75,&quot;width&quot;:860.7}"/>
</p:tagLst>
</file>

<file path=ppt/tags/tag50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51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52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53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54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55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56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57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58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59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60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61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62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63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64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65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66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67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68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69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70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71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72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73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74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75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76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77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78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79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80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81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82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83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84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85.xml><?xml version="1.0" encoding="utf-8"?>
<p:tagLst xmlns:p="http://schemas.openxmlformats.org/presentationml/2006/main">
  <p:tag name="KSO_WM_DIAGRAM_VIRTUALLY_FRAME" val="{&quot;height&quot;:308.75,&quot;left&quot;:88.8,&quot;top&quot;:164.25,&quot;width&quot;:791.65}"/>
</p:tagLst>
</file>

<file path=ppt/tags/tag86.xml><?xml version="1.0" encoding="utf-8"?>
<p:tagLst xmlns:p="http://schemas.openxmlformats.org/presentationml/2006/main">
  <p:tag name="KSO_WM_DIAGRAM_VIRTUALLY_FRAME" val="{&quot;height&quot;:308.75,&quot;left&quot;:88.8,&quot;top&quot;:164.25,&quot;width&quot;:791.65}"/>
</p:tagLst>
</file>

<file path=ppt/tags/tag87.xml><?xml version="1.0" encoding="utf-8"?>
<p:tagLst xmlns:p="http://schemas.openxmlformats.org/presentationml/2006/main">
  <p:tag name="KSO_WM_DIAGRAM_VIRTUALLY_FRAME" val="{&quot;height&quot;:308.75,&quot;left&quot;:88.8,&quot;top&quot;:164.25,&quot;width&quot;:791.65}"/>
</p:tagLst>
</file>

<file path=ppt/tags/tag88.xml><?xml version="1.0" encoding="utf-8"?>
<p:tagLst xmlns:p="http://schemas.openxmlformats.org/presentationml/2006/main">
  <p:tag name="KSO_WM_DIAGRAM_VIRTUALLY_FRAME" val="{&quot;height&quot;:308.75,&quot;left&quot;:88.8,&quot;top&quot;:164.25,&quot;width&quot;:791.65}"/>
</p:tagLst>
</file>

<file path=ppt/tags/tag89.xml><?xml version="1.0" encoding="utf-8"?>
<p:tagLst xmlns:p="http://schemas.openxmlformats.org/presentationml/2006/main">
  <p:tag name="KSO_WM_DIAGRAM_VIRTUALLY_FRAME" val="{&quot;height&quot;:308.75,&quot;left&quot;:88.8,&quot;top&quot;:164.25,&quot;width&quot;:791.65}"/>
</p:tagLst>
</file>

<file path=ppt/tags/tag90.xml><?xml version="1.0" encoding="utf-8"?>
<p:tagLst xmlns:p="http://schemas.openxmlformats.org/presentationml/2006/main">
  <p:tag name="KSO_WM_DIAGRAM_VIRTUALLY_FRAME" val="{&quot;height&quot;:308.75,&quot;left&quot;:88.8,&quot;top&quot;:164.25,&quot;width&quot;:791.65}"/>
</p:tagLst>
</file>

<file path=ppt/tags/tag91.xml><?xml version="1.0" encoding="utf-8"?>
<p:tagLst xmlns:p="http://schemas.openxmlformats.org/presentationml/2006/main">
  <p:tag name="KSO_WM_DIAGRAM_VIRTUALLY_FRAME" val="{&quot;height&quot;:308.75,&quot;left&quot;:88.8,&quot;top&quot;:164.25,&quot;width&quot;:791.65}"/>
</p:tagLst>
</file>

<file path=ppt/tags/tag92.xml><?xml version="1.0" encoding="utf-8"?>
<p:tagLst xmlns:p="http://schemas.openxmlformats.org/presentationml/2006/main">
  <p:tag name="KSO_WM_DIAGRAM_VIRTUALLY_FRAME" val="{&quot;height&quot;:308.75,&quot;left&quot;:88.8,&quot;top&quot;:164.25,&quot;width&quot;:791.65}"/>
</p:tagLst>
</file>

<file path=ppt/tags/tag93.xml><?xml version="1.0" encoding="utf-8"?>
<p:tagLst xmlns:p="http://schemas.openxmlformats.org/presentationml/2006/main">
  <p:tag name="KSO_WM_DIAGRAM_VIRTUALLY_FRAME" val="{&quot;height&quot;:321.4,&quot;left&quot;:135.65,&quot;top&quot;:155.65,&quot;width&quot;:691.35}"/>
</p:tagLst>
</file>

<file path=ppt/tags/tag94.xml><?xml version="1.0" encoding="utf-8"?>
<p:tagLst xmlns:p="http://schemas.openxmlformats.org/presentationml/2006/main">
  <p:tag name="KSO_WM_DIAGRAM_VIRTUALLY_FRAME" val="{&quot;height&quot;:321.4,&quot;left&quot;:135.65,&quot;top&quot;:155.65,&quot;width&quot;:691.35}"/>
</p:tagLst>
</file>

<file path=ppt/tags/tag95.xml><?xml version="1.0" encoding="utf-8"?>
<p:tagLst xmlns:p="http://schemas.openxmlformats.org/presentationml/2006/main">
  <p:tag name="KSO_WM_DIAGRAM_VIRTUALLY_FRAME" val="{&quot;height&quot;:321.4,&quot;left&quot;:135.65,&quot;top&quot;:155.65,&quot;width&quot;:691.35}"/>
</p:tagLst>
</file>

<file path=ppt/tags/tag96.xml><?xml version="1.0" encoding="utf-8"?>
<p:tagLst xmlns:p="http://schemas.openxmlformats.org/presentationml/2006/main">
  <p:tag name="KSO_WM_DIAGRAM_VIRTUALLY_FRAME" val="{&quot;height&quot;:321.4,&quot;left&quot;:135.65,&quot;top&quot;:155.65,&quot;width&quot;:691.35}"/>
</p:tagLst>
</file>

<file path=ppt/tags/tag97.xml><?xml version="1.0" encoding="utf-8"?>
<p:tagLst xmlns:p="http://schemas.openxmlformats.org/presentationml/2006/main">
  <p:tag name="KSO_WM_DIAGRAM_VIRTUALLY_FRAME" val="{&quot;height&quot;:321.4,&quot;left&quot;:135.65,&quot;top&quot;:155.65,&quot;width&quot;:691.35}"/>
</p:tagLst>
</file>

<file path=ppt/tags/tag98.xml><?xml version="1.0" encoding="utf-8"?>
<p:tagLst xmlns:p="http://schemas.openxmlformats.org/presentationml/2006/main">
  <p:tag name="KSO_WM_DIAGRAM_VIRTUALLY_FRAME" val="{&quot;height&quot;:474.7,&quot;left&quot;:52.8,&quot;top&quot;:43.75,&quot;width&quot;:860.7}"/>
</p:tagLst>
</file>

<file path=ppt/tags/tag99.xml><?xml version="1.0" encoding="utf-8"?>
<p:tagLst xmlns:p="http://schemas.openxmlformats.org/presentationml/2006/main">
  <p:tag name="KSO_WM_DIAGRAM_VIRTUALLY_FRAME" val="{&quot;height&quot;:474.7,&quot;left&quot;:52.8,&quot;top&quot;:43.75,&quot;width&quot;:860.7}"/>
</p:tagLst>
</file>

<file path=ppt/tags/tag100.xml><?xml version="1.0" encoding="utf-8"?>
<p:tagLst xmlns:p="http://schemas.openxmlformats.org/presentationml/2006/main">
  <p:tag name="KSO_WM_DIAGRAM_VIRTUALLY_FRAME" val="{&quot;height&quot;:474.7,&quot;left&quot;:52.8,&quot;top&quot;:43.75,&quot;width&quot;:860.7}"/>
</p:tagLst>
</file>

<file path=ppt/tags/tag101.xml><?xml version="1.0" encoding="utf-8"?>
<p:tagLst xmlns:p="http://schemas.openxmlformats.org/presentationml/2006/main">
  <p:tag name="KSO_WM_DIAGRAM_VIRTUALLY_FRAME" val="{&quot;height&quot;:474.7,&quot;left&quot;:52.8,&quot;top&quot;:43.75,&quot;width&quot;:860.7}"/>
</p:tagLst>
</file>

<file path=ppt/tags/tag102.xml><?xml version="1.0" encoding="utf-8"?>
<p:tagLst xmlns:p="http://schemas.openxmlformats.org/presentationml/2006/main">
  <p:tag name="KSO_WM_DIAGRAM_VIRTUALLY_FRAME" val="{&quot;height&quot;:474.7,&quot;left&quot;:52.8,&quot;top&quot;:43.75,&quot;width&quot;:860.7}"/>
</p:tagLst>
</file>

<file path=ppt/tags/tag103.xml><?xml version="1.0" encoding="utf-8"?>
<p:tagLst xmlns:p="http://schemas.openxmlformats.org/presentationml/2006/main">
  <p:tag name="KSO_WM_DIAGRAM_VIRTUALLY_FRAME" val="{&quot;height&quot;:474.7,&quot;left&quot;:52.8,&quot;top&quot;:43.75,&quot;width&quot;:860.7}"/>
</p:tagLst>
</file>

<file path=ppt/tags/tag104.xml><?xml version="1.0" encoding="utf-8"?>
<p:tagLst xmlns:p="http://schemas.openxmlformats.org/presentationml/2006/main">
  <p:tag name="KSO_WM_DIAGRAM_VIRTUALLY_FRAME" val="{&quot;height&quot;:474.7,&quot;left&quot;:52.8,&quot;top&quot;:43.75,&quot;width&quot;:860.7}"/>
</p:tagLst>
</file>

<file path=ppt/tags/tag105.xml><?xml version="1.0" encoding="utf-8"?>
<p:tagLst xmlns:p="http://schemas.openxmlformats.org/presentationml/2006/main">
  <p:tag name="KSO_WM_DIAGRAM_VIRTUALLY_FRAME" val="{&quot;height&quot;:474.7,&quot;left&quot;:52.8,&quot;top&quot;:43.75,&quot;width&quot;:860.7}"/>
</p:tagLst>
</file>

<file path=ppt/tags/tag106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107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108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109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110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111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112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113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114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115.xml><?xml version="1.0" encoding="utf-8"?>
<p:tagLst xmlns:p="http://schemas.openxmlformats.org/presentationml/2006/main">
  <p:tag name="KSO_WM_DIAGRAM_VIRTUALLY_FRAME" val="{&quot;height&quot;:412.65,&quot;left&quot;:83.7,&quot;top&quot;:109.85,&quot;width&quot;:802.35}"/>
</p:tagLst>
</file>

<file path=ppt/tags/tag116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117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118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119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120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121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122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123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124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125.xml><?xml version="1.0" encoding="utf-8"?>
<p:tagLst xmlns:p="http://schemas.openxmlformats.org/presentationml/2006/main">
  <p:tag name="KSO_WM_DIAGRAM_VIRTUALLY_FRAME" val="{&quot;height&quot;:411.9,&quot;left&quot;:83.7,&quot;top&quot;:109.85,&quot;width&quot;:802.35}"/>
</p:tagLst>
</file>

<file path=ppt/tags/tag126.xml><?xml version="1.0" encoding="utf-8"?>
<p:tagLst xmlns:p="http://schemas.openxmlformats.org/presentationml/2006/main">
  <p:tag name="KSO_WM_DIAGRAM_VIRTUALLY_FRAME" val="{&quot;height&quot;:159.85,&quot;left&quot;:62.65,&quot;top&quot;:178.95,&quot;width&quot;:839.4}"/>
</p:tagLst>
</file>

<file path=ppt/tags/tag127.xml><?xml version="1.0" encoding="utf-8"?>
<p:tagLst xmlns:p="http://schemas.openxmlformats.org/presentationml/2006/main">
  <p:tag name="KSO_WM_DIAGRAM_VIRTUALLY_FRAME" val="{&quot;height&quot;:159.85,&quot;left&quot;:62.65,&quot;top&quot;:178.95,&quot;width&quot;:839.4}"/>
</p:tagLst>
</file>

<file path=ppt/tags/tag128.xml><?xml version="1.0" encoding="utf-8"?>
<p:tagLst xmlns:p="http://schemas.openxmlformats.org/presentationml/2006/main">
  <p:tag name="KSO_WM_DIAGRAM_VIRTUALLY_FRAME" val="{&quot;height&quot;:159.85,&quot;left&quot;:62.65,&quot;top&quot;:178.95,&quot;width&quot;:839.4}"/>
</p:tagLst>
</file>

<file path=ppt/tags/tag129.xml><?xml version="1.0" encoding="utf-8"?>
<p:tagLst xmlns:p="http://schemas.openxmlformats.org/presentationml/2006/main">
  <p:tag name="KSO_WM_DIAGRAM_VIRTUALLY_FRAME" val="{&quot;height&quot;:159.85,&quot;left&quot;:62.65,&quot;top&quot;:178.95,&quot;width&quot;:839.4}"/>
</p:tagLst>
</file>

<file path=ppt/tags/tag130.xml><?xml version="1.0" encoding="utf-8"?>
<p:tagLst xmlns:p="http://schemas.openxmlformats.org/presentationml/2006/main">
  <p:tag name="KSO_WM_DIAGRAM_VIRTUALLY_FRAME" val="{&quot;height&quot;:336.4,&quot;left&quot;:66.9,&quot;top&quot;:129.3,&quot;width&quot;:734.3}"/>
</p:tagLst>
</file>

<file path=ppt/tags/tag131.xml><?xml version="1.0" encoding="utf-8"?>
<p:tagLst xmlns:p="http://schemas.openxmlformats.org/presentationml/2006/main">
  <p:tag name="KSO_WM_DIAGRAM_VIRTUALLY_FRAME" val="{&quot;height&quot;:336.4,&quot;left&quot;:66.9,&quot;top&quot;:129.3,&quot;width&quot;:734.3}"/>
</p:tagLst>
</file>

<file path=ppt/tags/tag132.xml><?xml version="1.0" encoding="utf-8"?>
<p:tagLst xmlns:p="http://schemas.openxmlformats.org/presentationml/2006/main">
  <p:tag name="KSO_WM_DIAGRAM_VIRTUALLY_FRAME" val="{&quot;height&quot;:336.4,&quot;left&quot;:66.9,&quot;top&quot;:129.3,&quot;width&quot;:734.3}"/>
</p:tagLst>
</file>

<file path=ppt/tags/tag133.xml><?xml version="1.0" encoding="utf-8"?>
<p:tagLst xmlns:p="http://schemas.openxmlformats.org/presentationml/2006/main">
  <p:tag name="KSO_WM_DIAGRAM_VIRTUALLY_FRAME" val="{&quot;height&quot;:336.4,&quot;left&quot;:66.9,&quot;top&quot;:129.3,&quot;width&quot;:734.3}"/>
</p:tagLst>
</file>

<file path=ppt/tags/tag134.xml><?xml version="1.0" encoding="utf-8"?>
<p:tagLst xmlns:p="http://schemas.openxmlformats.org/presentationml/2006/main">
  <p:tag name="KSO_WM_DIAGRAM_VIRTUALLY_FRAME" val="{&quot;height&quot;:336.4,&quot;left&quot;:66.9,&quot;top&quot;:129.3,&quot;width&quot;:734.3}"/>
</p:tagLst>
</file>

<file path=ppt/tags/tag135.xml><?xml version="1.0" encoding="utf-8"?>
<p:tagLst xmlns:p="http://schemas.openxmlformats.org/presentationml/2006/main">
  <p:tag name="KSO_WM_DIAGRAM_VIRTUALLY_FRAME" val="{&quot;height&quot;:336.4,&quot;left&quot;:66.9,&quot;top&quot;:129.3,&quot;width&quot;:734.3}"/>
</p:tagLst>
</file>

<file path=ppt/tags/tag136.xml><?xml version="1.0" encoding="utf-8"?>
<p:tagLst xmlns:p="http://schemas.openxmlformats.org/presentationml/2006/main">
  <p:tag name="KSO_WM_DIAGRAM_VIRTUALLY_FRAME" val="{&quot;height&quot;:336.4,&quot;left&quot;:66.9,&quot;top&quot;:129.3,&quot;width&quot;:734.3}"/>
</p:tagLst>
</file>

<file path=ppt/tags/tag137.xml><?xml version="1.0" encoding="utf-8"?>
<p:tagLst xmlns:p="http://schemas.openxmlformats.org/presentationml/2006/main">
  <p:tag name="KSO_WM_DIAGRAM_VIRTUALLY_FRAME" val="{&quot;height&quot;:336.4,&quot;left&quot;:66.9,&quot;top&quot;:129.3,&quot;width&quot;:734.3}"/>
</p:tagLst>
</file>

<file path=ppt/tags/tag138.xml><?xml version="1.0" encoding="utf-8"?>
<p:tagLst xmlns:p="http://schemas.openxmlformats.org/presentationml/2006/main">
  <p:tag name="KSO_WM_DIAGRAM_VIRTUALLY_FRAME" val="{&quot;height&quot;:336.4,&quot;left&quot;:66.9,&quot;top&quot;:129.3,&quot;width&quot;:734.3}"/>
</p:tagLst>
</file>

<file path=ppt/tags/tag139.xml><?xml version="1.0" encoding="utf-8"?>
<p:tagLst xmlns:p="http://schemas.openxmlformats.org/presentationml/2006/main">
  <p:tag name="KSO_WM_DIAGRAM_VIRTUALLY_FRAME" val="{&quot;height&quot;:282.9,&quot;left&quot;:319.5,&quot;top&quot;:168.75,&quot;width&quot;:568}"/>
</p:tagLst>
</file>

<file path=ppt/tags/tag140.xml><?xml version="1.0" encoding="utf-8"?>
<p:tagLst xmlns:p="http://schemas.openxmlformats.org/presentationml/2006/main">
  <p:tag name="KSO_WM_DIAGRAM_VIRTUALLY_FRAME" val="{&quot;height&quot;:282.9,&quot;left&quot;:319.5,&quot;top&quot;:168.75,&quot;width&quot;:568}"/>
</p:tagLst>
</file>

<file path=ppt/tags/tag141.xml><?xml version="1.0" encoding="utf-8"?>
<p:tagLst xmlns:p="http://schemas.openxmlformats.org/presentationml/2006/main">
  <p:tag name="KSO_WM_DIAGRAM_VIRTUALLY_FRAME" val="{&quot;height&quot;:282.9,&quot;left&quot;:319.5,&quot;top&quot;:168.75,&quot;width&quot;:568}"/>
</p:tagLst>
</file>

<file path=ppt/tags/tag142.xml><?xml version="1.0" encoding="utf-8"?>
<p:tagLst xmlns:p="http://schemas.openxmlformats.org/presentationml/2006/main">
  <p:tag name="KSO_WM_DIAGRAM_VIRTUALLY_FRAME" val="{&quot;height&quot;:400.7,&quot;left&quot;:83.7,&quot;top&quot;:109.85,&quot;width&quot;:802.35}"/>
</p:tagLst>
</file>

<file path=ppt/tags/tag143.xml><?xml version="1.0" encoding="utf-8"?>
<p:tagLst xmlns:p="http://schemas.openxmlformats.org/presentationml/2006/main">
  <p:tag name="KSO_WM_DIAGRAM_VIRTUALLY_FRAME" val="{&quot;height&quot;:400.7,&quot;left&quot;:83.7,&quot;top&quot;:109.85,&quot;width&quot;:802.35}"/>
</p:tagLst>
</file>

<file path=ppt/tags/tag144.xml><?xml version="1.0" encoding="utf-8"?>
<p:tagLst xmlns:p="http://schemas.openxmlformats.org/presentationml/2006/main">
  <p:tag name="KSO_WM_DIAGRAM_VIRTUALLY_FRAME" val="{&quot;height&quot;:400.7,&quot;left&quot;:83.7,&quot;top&quot;:109.85,&quot;width&quot;:802.35}"/>
</p:tagLst>
</file>

<file path=ppt/tags/tag145.xml><?xml version="1.0" encoding="utf-8"?>
<p:tagLst xmlns:p="http://schemas.openxmlformats.org/presentationml/2006/main">
  <p:tag name="KSO_WM_DIAGRAM_VIRTUALLY_FRAME" val="{&quot;height&quot;:400.7,&quot;left&quot;:83.7,&quot;top&quot;:109.85,&quot;width&quot;:802.35}"/>
</p:tagLst>
</file>

<file path=ppt/tags/tag146.xml><?xml version="1.0" encoding="utf-8"?>
<p:tagLst xmlns:p="http://schemas.openxmlformats.org/presentationml/2006/main">
  <p:tag name="KSO_WM_DIAGRAM_VIRTUALLY_FRAME" val="{&quot;height&quot;:400.7,&quot;left&quot;:83.7,&quot;top&quot;:109.85,&quot;width&quot;:802.35}"/>
</p:tagLst>
</file>

<file path=ppt/tags/tag147.xml><?xml version="1.0" encoding="utf-8"?>
<p:tagLst xmlns:p="http://schemas.openxmlformats.org/presentationml/2006/main">
  <p:tag name="KSO_WM_DIAGRAM_VIRTUALLY_FRAME" val="{&quot;height&quot;:400.7,&quot;left&quot;:83.7,&quot;top&quot;:109.85,&quot;width&quot;:802.35}"/>
</p:tagLst>
</file>

<file path=ppt/tags/tag148.xml><?xml version="1.0" encoding="utf-8"?>
<p:tagLst xmlns:p="http://schemas.openxmlformats.org/presentationml/2006/main">
  <p:tag name="KSO_WM_DIAGRAM_VIRTUALLY_FRAME" val="{&quot;height&quot;:400.7,&quot;left&quot;:83.7,&quot;top&quot;:109.85,&quot;width&quot;:802.35}"/>
</p:tagLst>
</file>

<file path=ppt/tags/tag149.xml><?xml version="1.0" encoding="utf-8"?>
<p:tagLst xmlns:p="http://schemas.openxmlformats.org/presentationml/2006/main">
  <p:tag name="KSO_WM_DIAGRAM_VIRTUALLY_FRAME" val="{&quot;height&quot;:400.7,&quot;left&quot;:83.7,&quot;top&quot;:109.85,&quot;width&quot;:802.35}"/>
</p:tagLst>
</file>

<file path=ppt/tags/tag150.xml><?xml version="1.0" encoding="utf-8"?>
<p:tagLst xmlns:p="http://schemas.openxmlformats.org/presentationml/2006/main">
  <p:tag name="KSO_WM_DIAGRAM_VIRTUALLY_FRAME" val="{&quot;height&quot;:400.7,&quot;left&quot;:83.7,&quot;top&quot;:109.85,&quot;width&quot;:802.35}"/>
</p:tagLst>
</file>

<file path=ppt/tags/tag151.xml><?xml version="1.0" encoding="utf-8"?>
<p:tagLst xmlns:p="http://schemas.openxmlformats.org/presentationml/2006/main">
  <p:tag name="KSO_WM_DIAGRAM_VIRTUALLY_FRAME" val="{&quot;height&quot;:400.7,&quot;left&quot;:83.7,&quot;top&quot;:109.85,&quot;width&quot;:802.35}"/>
</p:tagLst>
</file>

<file path=ppt/tags/tag152.xml><?xml version="1.0" encoding="utf-8"?>
<p:tagLst xmlns:p="http://schemas.openxmlformats.org/presentationml/2006/main">
  <p:tag name="KSO_WM_DIAGRAM_VIRTUALLY_FRAME" val="{&quot;height&quot;:400.7,&quot;left&quot;:83.7,&quot;top&quot;:109.85,&quot;width&quot;:802.35}"/>
</p:tagLst>
</file>

<file path=ppt/tags/tag153.xml><?xml version="1.0" encoding="utf-8"?>
<p:tagLst xmlns:p="http://schemas.openxmlformats.org/presentationml/2006/main">
  <p:tag name="KSO_WM_DIAGRAM_VIRTUALLY_FRAME" val="{&quot;height&quot;:400.7,&quot;left&quot;:83.7,&quot;top&quot;:109.85,&quot;width&quot;:802.35}"/>
</p:tagLst>
</file>

<file path=ppt/tags/tag154.xml><?xml version="1.0" encoding="utf-8"?>
<p:tagLst xmlns:p="http://schemas.openxmlformats.org/presentationml/2006/main">
  <p:tag name="KSO_WM_DIAGRAM_VIRTUALLY_FRAME" val="{&quot;height&quot;:400.7,&quot;left&quot;:83.7,&quot;top&quot;:109.85,&quot;width&quot;:802.35}"/>
</p:tagLst>
</file>

<file path=ppt/tags/tag155.xml><?xml version="1.0" encoding="utf-8"?>
<p:tagLst xmlns:p="http://schemas.openxmlformats.org/presentationml/2006/main">
  <p:tag name="KSO_WM_DIAGRAM_VIRTUALLY_FRAME" val="{&quot;height&quot;:400.7,&quot;left&quot;:83.7,&quot;top&quot;:109.85,&quot;width&quot;:802.35}"/>
</p:tagLst>
</file>

<file path=ppt/tags/tag156.xml><?xml version="1.0" encoding="utf-8"?>
<p:tagLst xmlns:p="http://schemas.openxmlformats.org/presentationml/2006/main">
  <p:tag name="KSO_WM_DIAGRAM_VIRTUALLY_FRAME" val="{&quot;height&quot;:400.7,&quot;left&quot;:83.7,&quot;top&quot;:109.85,&quot;width&quot;:802.35}"/>
</p:tagLst>
</file>

<file path=ppt/tags/tag157.xml><?xml version="1.0" encoding="utf-8"?>
<p:tagLst xmlns:p="http://schemas.openxmlformats.org/presentationml/2006/main">
  <p:tag name="KSO_WM_DIAGRAM_VIRTUALLY_FRAME" val="{&quot;height&quot;:354.575,&quot;left&quot;:45.8,&quot;top&quot;:138.325,&quot;width&quot;:914.175}"/>
</p:tagLst>
</file>

<file path=ppt/tags/tag158.xml><?xml version="1.0" encoding="utf-8"?>
<p:tagLst xmlns:p="http://schemas.openxmlformats.org/presentationml/2006/main">
  <p:tag name="KSO_WM_DIAGRAM_VIRTUALLY_FRAME" val="{&quot;height&quot;:354.575,&quot;left&quot;:45.8,&quot;top&quot;:138.325,&quot;width&quot;:914.175}"/>
</p:tagLst>
</file>

<file path=ppt/tags/tag159.xml><?xml version="1.0" encoding="utf-8"?>
<p:tagLst xmlns:p="http://schemas.openxmlformats.org/presentationml/2006/main">
  <p:tag name="KSO_WM_DIAGRAM_VIRTUALLY_FRAME" val="{&quot;height&quot;:354.575,&quot;left&quot;:45.8,&quot;top&quot;:138.325,&quot;width&quot;:914.175}"/>
</p:tagLst>
</file>

<file path=ppt/tags/tag160.xml><?xml version="1.0" encoding="utf-8"?>
<p:tagLst xmlns:p="http://schemas.openxmlformats.org/presentationml/2006/main">
  <p:tag name="KSO_WM_DIAGRAM_VIRTUALLY_FRAME" val="{&quot;height&quot;:354.575,&quot;left&quot;:45.8,&quot;top&quot;:138.325,&quot;width&quot;:914.175}"/>
</p:tagLst>
</file>

<file path=ppt/tags/tag161.xml><?xml version="1.0" encoding="utf-8"?>
<p:tagLst xmlns:p="http://schemas.openxmlformats.org/presentationml/2006/main">
  <p:tag name="KSO_WM_DIAGRAM_VIRTUALLY_FRAME" val="{&quot;height&quot;:354.575,&quot;left&quot;:45.8,&quot;top&quot;:138.325,&quot;width&quot;:914.175}"/>
</p:tagLst>
</file>

<file path=ppt/tags/tag162.xml><?xml version="1.0" encoding="utf-8"?>
<p:tagLst xmlns:p="http://schemas.openxmlformats.org/presentationml/2006/main">
  <p:tag name="KSO_WM_DIAGRAM_VIRTUALLY_FRAME" val="{&quot;height&quot;:354.575,&quot;left&quot;:45.8,&quot;top&quot;:138.325,&quot;width&quot;:914.175}"/>
</p:tagLst>
</file>

<file path=ppt/tags/tag163.xml><?xml version="1.0" encoding="utf-8"?>
<p:tagLst xmlns:p="http://schemas.openxmlformats.org/presentationml/2006/main">
  <p:tag name="KSO_WM_DIAGRAM_VIRTUALLY_FRAME" val="{&quot;height&quot;:354.575,&quot;left&quot;:45.8,&quot;top&quot;:138.325,&quot;width&quot;:914.175}"/>
</p:tagLst>
</file>

<file path=ppt/tags/tag164.xml><?xml version="1.0" encoding="utf-8"?>
<p:tagLst xmlns:p="http://schemas.openxmlformats.org/presentationml/2006/main">
  <p:tag name="KSO_WM_DIAGRAM_VIRTUALLY_FRAME" val="{&quot;height&quot;:354.575,&quot;left&quot;:45.8,&quot;top&quot;:138.325,&quot;width&quot;:914.175}"/>
</p:tagLst>
</file>

<file path=ppt/tags/tag165.xml><?xml version="1.0" encoding="utf-8"?>
<p:tagLst xmlns:p="http://schemas.openxmlformats.org/presentationml/2006/main">
  <p:tag name="KSO_WM_DIAGRAM_VIRTUALLY_FRAME" val="{&quot;height&quot;:354.575,&quot;left&quot;:45.8,&quot;top&quot;:138.325,&quot;width&quot;:914.175}"/>
</p:tagLst>
</file>

<file path=ppt/tags/tag166.xml><?xml version="1.0" encoding="utf-8"?>
<p:tagLst xmlns:p="http://schemas.openxmlformats.org/presentationml/2006/main">
  <p:tag name="TABLE_ENDDRAG_ORIGIN_RECT" val="706*371"/>
  <p:tag name="TABLE_ENDDRAG_RECT" val="80*126*706*371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3533</Words>
  <Application>WPS 演示</Application>
  <PresentationFormat>On-screen Show (16:9)</PresentationFormat>
  <Paragraphs>603</Paragraphs>
  <Slides>30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3" baseType="lpstr">
      <vt:lpstr>Arial</vt:lpstr>
      <vt:lpstr>宋体</vt:lpstr>
      <vt:lpstr>Wingdings</vt:lpstr>
      <vt:lpstr>MiSans</vt:lpstr>
      <vt:lpstr>MiSans</vt:lpstr>
      <vt:lpstr>Wingdings</vt:lpstr>
      <vt:lpstr>Calibri</vt:lpstr>
      <vt:lpstr>微软雅黑</vt:lpstr>
      <vt:lpstr>Arial Unicode MS</vt:lpstr>
      <vt:lpstr>等线</vt:lpstr>
      <vt:lpstr>Arial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孩子先天特质分类及判断依据</dc:title>
  <dc:creator>Kimi</dc:creator>
  <dc:subject>孩子先天特质分类及判断依据</dc:subject>
  <cp:lastModifiedBy>卢嘉</cp:lastModifiedBy>
  <cp:revision>5</cp:revision>
  <dcterms:created xsi:type="dcterms:W3CDTF">2025-09-08T08:43:00Z</dcterms:created>
  <dcterms:modified xsi:type="dcterms:W3CDTF">2026-07-11T05:51:47Z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{"Label":"孩子先天特质分类及判断依据","ContentProducer":"001191110108MACG2KBH8F10000","ProduceID":"d2v9cd25hvlqbd6j6rt0","ReservedCode1":"","ContentPropagator":"001191110108MACG2KBH8F20000","PropagateID":"d2v9cd25hvlqbd6j6rt0","ReservedCode2":""}</vt:lpwstr>
  </property>
  <property fmtid="{D5CDD505-2E9C-101B-9397-08002B2CF9AE}" pid="3" name="ICV">
    <vt:lpwstr>5EDD56467F574769862CCE463158FE16_13</vt:lpwstr>
  </property>
  <property fmtid="{D5CDD505-2E9C-101B-9397-08002B2CF9AE}" pid="4" name="KSOProductBuildVer">
    <vt:lpwstr>2052-12.1.0.26895</vt:lpwstr>
  </property>
</Properties>
</file>